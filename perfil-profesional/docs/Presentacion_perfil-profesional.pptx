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Calibri (MS) Bold" charset="1" panose="020F0702030404030204"/>
      <p:regular r:id="rId17"/>
    </p:embeddedFont>
    <p:embeddedFont>
      <p:font typeface="Calibri (MS)" charset="1" panose="020F0502020204030204"/>
      <p:regular r:id="rId18"/>
    </p:embeddedFont>
    <p:embeddedFont>
      <p:font typeface="Courier New" charset="1" panose="020703090202050204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notesMasters/notesMaster1.xml" Type="http://schemas.openxmlformats.org/officeDocument/2006/relationships/notesMaster"/><Relationship Id="rId15" Target="theme/theme2.xml" Type="http://schemas.openxmlformats.org/officeDocument/2006/relationships/theme"/><Relationship Id="rId16" Target="notesSlides/notesSlide1.xml" Type="http://schemas.openxmlformats.org/officeDocument/2006/relationships/notes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notesSlides/notesSlide2.xml" Type="http://schemas.openxmlformats.org/officeDocument/2006/relationships/notesSlide"/><Relationship Id="rId2" Target="presProps.xml" Type="http://schemas.openxmlformats.org/officeDocument/2006/relationships/presProps"/><Relationship Id="rId20" Target="notesSlides/notesSlide3.xml" Type="http://schemas.openxmlformats.org/officeDocument/2006/relationships/notesSlide"/><Relationship Id="rId21" Target="notesSlides/notesSlide4.xml" Type="http://schemas.openxmlformats.org/officeDocument/2006/relationships/notesSlide"/><Relationship Id="rId22" Target="notesSlides/notesSlide5.xml" Type="http://schemas.openxmlformats.org/officeDocument/2006/relationships/notesSlide"/><Relationship Id="rId23" Target="fonts/font23.fntdata" Type="http://schemas.openxmlformats.org/officeDocument/2006/relationships/font"/><Relationship Id="rId24" Target="notesSlides/notesSlide6.xml" Type="http://schemas.openxmlformats.org/officeDocument/2006/relationships/notesSlide"/><Relationship Id="rId25" Target="notesSlides/notesSlide7.xml" Type="http://schemas.openxmlformats.org/officeDocument/2006/relationships/notesSlide"/><Relationship Id="rId26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Presentar el proyecto: mejora de la tarea 1 con diseño nuevo, publicado con Docker y Nginx.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.jpeg" Type="http://schemas.openxmlformats.org/officeDocument/2006/relationships/image"/><Relationship Id="rId4" Target="../media/image4.png" Type="http://schemas.openxmlformats.org/officeDocument/2006/relationships/image"/><Relationship Id="rId5" Target="../media/image5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74755" y="1499235"/>
            <a:ext cx="5916930" cy="5916930"/>
            <a:chOff x="0" y="0"/>
            <a:chExt cx="7889240" cy="78892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889240" cy="7889240"/>
            </a:xfrm>
            <a:custGeom>
              <a:avLst/>
              <a:gdLst/>
              <a:ahLst/>
              <a:cxnLst/>
              <a:rect r="r" b="b" t="t" l="l"/>
              <a:pathLst>
                <a:path h="7889240" w="7889240">
                  <a:moveTo>
                    <a:pt x="0" y="3944620"/>
                  </a:moveTo>
                  <a:cubicBezTo>
                    <a:pt x="0" y="1766062"/>
                    <a:pt x="1766062" y="0"/>
                    <a:pt x="3944620" y="0"/>
                  </a:cubicBezTo>
                  <a:cubicBezTo>
                    <a:pt x="6123178" y="0"/>
                    <a:pt x="7889240" y="1766062"/>
                    <a:pt x="7889240" y="3944620"/>
                  </a:cubicBezTo>
                  <a:cubicBezTo>
                    <a:pt x="7889240" y="6123178"/>
                    <a:pt x="6123178" y="7889240"/>
                    <a:pt x="3944620" y="7889240"/>
                  </a:cubicBezTo>
                  <a:cubicBezTo>
                    <a:pt x="1766062" y="7889240"/>
                    <a:pt x="0" y="6123178"/>
                    <a:pt x="0" y="3944620"/>
                  </a:cubicBezTo>
                  <a:close/>
                </a:path>
              </a:pathLst>
            </a:custGeom>
            <a:solidFill>
              <a:srgbClr val="DFF0EE"/>
            </a:solidFill>
            <a:ln w="19050" cap="sq">
              <a:solidFill>
                <a:srgbClr val="DFF0EE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5352395" y="950595"/>
            <a:ext cx="1939290" cy="1939290"/>
            <a:chOff x="0" y="0"/>
            <a:chExt cx="2585720" cy="25857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85720" cy="2585720"/>
            </a:xfrm>
            <a:custGeom>
              <a:avLst/>
              <a:gdLst/>
              <a:ahLst/>
              <a:cxnLst/>
              <a:rect r="r" b="b" t="t" l="l"/>
              <a:pathLst>
                <a:path h="2585720" w="2585720">
                  <a:moveTo>
                    <a:pt x="0" y="1292860"/>
                  </a:moveTo>
                  <a:cubicBezTo>
                    <a:pt x="0" y="578866"/>
                    <a:pt x="578866" y="0"/>
                    <a:pt x="1292860" y="0"/>
                  </a:cubicBezTo>
                  <a:cubicBezTo>
                    <a:pt x="2006854" y="0"/>
                    <a:pt x="2585720" y="578866"/>
                    <a:pt x="2585720" y="1292860"/>
                  </a:cubicBezTo>
                  <a:cubicBezTo>
                    <a:pt x="2585720" y="2006854"/>
                    <a:pt x="2006854" y="2585720"/>
                    <a:pt x="1292860" y="2585720"/>
                  </a:cubicBezTo>
                  <a:cubicBezTo>
                    <a:pt x="578866" y="2585720"/>
                    <a:pt x="0" y="2006854"/>
                    <a:pt x="0" y="1292860"/>
                  </a:cubicBezTo>
                  <a:close/>
                </a:path>
              </a:pathLst>
            </a:custGeom>
            <a:solidFill>
              <a:srgbClr val="EBE8F7"/>
            </a:solidFill>
            <a:ln w="19050" cap="sq">
              <a:solidFill>
                <a:srgbClr val="EBE8F7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0551795" y="6711315"/>
            <a:ext cx="2213610" cy="2213610"/>
            <a:chOff x="0" y="0"/>
            <a:chExt cx="2951480" cy="29514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951480" cy="2951480"/>
            </a:xfrm>
            <a:custGeom>
              <a:avLst/>
              <a:gdLst/>
              <a:ahLst/>
              <a:cxnLst/>
              <a:rect r="r" b="b" t="t" l="l"/>
              <a:pathLst>
                <a:path h="2951480" w="2951480">
                  <a:moveTo>
                    <a:pt x="0" y="1475740"/>
                  </a:moveTo>
                  <a:cubicBezTo>
                    <a:pt x="0" y="660654"/>
                    <a:pt x="660654" y="0"/>
                    <a:pt x="1475740" y="0"/>
                  </a:cubicBezTo>
                  <a:cubicBezTo>
                    <a:pt x="2290826" y="0"/>
                    <a:pt x="2951480" y="660654"/>
                    <a:pt x="2951480" y="1475740"/>
                  </a:cubicBezTo>
                  <a:cubicBezTo>
                    <a:pt x="2951480" y="2290826"/>
                    <a:pt x="2290826" y="2951480"/>
                    <a:pt x="1475740" y="2951480"/>
                  </a:cubicBezTo>
                  <a:cubicBezTo>
                    <a:pt x="660654" y="2951480"/>
                    <a:pt x="0" y="2290826"/>
                    <a:pt x="0" y="1475740"/>
                  </a:cubicBezTo>
                  <a:close/>
                </a:path>
              </a:pathLst>
            </a:custGeom>
            <a:solidFill>
              <a:srgbClr val="F9EBD3"/>
            </a:solidFill>
            <a:ln w="19050" cap="sq">
              <a:solidFill>
                <a:srgbClr val="F9EBD3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5626715" y="6848475"/>
            <a:ext cx="1390650" cy="1390650"/>
            <a:chOff x="0" y="0"/>
            <a:chExt cx="1854200" cy="1854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54200" cy="1854200"/>
            </a:xfrm>
            <a:custGeom>
              <a:avLst/>
              <a:gdLst/>
              <a:ahLst/>
              <a:cxnLst/>
              <a:rect r="r" b="b" t="t" l="l"/>
              <a:pathLst>
                <a:path h="1854200" w="1854200">
                  <a:moveTo>
                    <a:pt x="0" y="927100"/>
                  </a:moveTo>
                  <a:cubicBezTo>
                    <a:pt x="0" y="415036"/>
                    <a:pt x="415036" y="0"/>
                    <a:pt x="927100" y="0"/>
                  </a:cubicBezTo>
                  <a:cubicBezTo>
                    <a:pt x="1439164" y="0"/>
                    <a:pt x="1854200" y="415036"/>
                    <a:pt x="1854200" y="927100"/>
                  </a:cubicBezTo>
                  <a:cubicBezTo>
                    <a:pt x="1854200" y="1439164"/>
                    <a:pt x="1439164" y="1854200"/>
                    <a:pt x="927100" y="1854200"/>
                  </a:cubicBezTo>
                  <a:cubicBezTo>
                    <a:pt x="415036" y="1854200"/>
                    <a:pt x="0" y="1439164"/>
                    <a:pt x="0" y="927100"/>
                  </a:cubicBezTo>
                  <a:close/>
                </a:path>
              </a:pathLst>
            </a:custGeom>
            <a:solidFill>
              <a:srgbClr val="F7E3E4"/>
            </a:solidFill>
            <a:ln w="19050" cap="sq">
              <a:solidFill>
                <a:srgbClr val="F7E3E4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1727180" y="1851660"/>
            <a:ext cx="5212080" cy="5212080"/>
            <a:chOff x="0" y="0"/>
            <a:chExt cx="6949440" cy="6949440"/>
          </a:xfrm>
        </p:grpSpPr>
        <p:sp>
          <p:nvSpPr>
            <p:cNvPr name="Freeform 11" id="11" descr="Foto de perfil de Tammy Caizapanta"/>
            <p:cNvSpPr/>
            <p:nvPr/>
          </p:nvSpPr>
          <p:spPr>
            <a:xfrm flipH="false" flipV="false" rot="0">
              <a:off x="0" y="0"/>
              <a:ext cx="6949440" cy="6949440"/>
            </a:xfrm>
            <a:custGeom>
              <a:avLst/>
              <a:gdLst/>
              <a:ahLst/>
              <a:cxnLst/>
              <a:rect r="r" b="b" t="t" l="l"/>
              <a:pathLst>
                <a:path h="694944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6949440"/>
                  </a:lnTo>
                  <a:lnTo>
                    <a:pt x="0" y="6949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9555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97280" y="2146935"/>
            <a:ext cx="905256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2100" spc="450">
                <a:solidFill>
                  <a:srgbClr val="B0848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PROGRAMACIÓN WEB · NRC 36875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97280" y="2708910"/>
            <a:ext cx="9326880" cy="1680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20"/>
              </a:lnSpc>
            </a:pPr>
            <a:r>
              <a:rPr lang="en-US" sz="8100" b="true">
                <a:solidFill>
                  <a:srgbClr val="2F6B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Perfil profesional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97280" y="4459605"/>
            <a:ext cx="9052560" cy="1301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3A3A42"/>
                </a:solidFill>
                <a:latin typeface="Calibri (MS)"/>
                <a:ea typeface="Calibri (MS)"/>
                <a:cs typeface="Calibri (MS)"/>
                <a:sym typeface="Calibri (MS)"/>
              </a:rPr>
              <a:t>Sitio web con HTML5, CSS externo y Docker con Nginx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97280" y="6938010"/>
            <a:ext cx="9052560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3A3A4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Tammy Amarilis Caizapanta Muela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97280" y="7564755"/>
            <a:ext cx="932688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Ingeniería de Software · Universidad de las Fuerzas Armadas ESPE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548640"/>
            <a:ext cx="16322040" cy="1234440"/>
            <a:chOff x="0" y="0"/>
            <a:chExt cx="2176272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627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7635" r="0" b="-20763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21762720" cy="1760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2F6B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Objetivo del proyecto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60120" y="2127885"/>
            <a:ext cx="16322040" cy="2047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3A3A42"/>
                </a:solidFill>
                <a:latin typeface="Calibri (MS)"/>
                <a:ea typeface="Calibri (MS)"/>
                <a:cs typeface="Calibri (MS)"/>
                <a:sym typeface="Calibri (MS)"/>
              </a:rPr>
              <a:t>Impl</a:t>
            </a:r>
            <a:r>
              <a:rPr lang="en-US" sz="3300">
                <a:solidFill>
                  <a:srgbClr val="3A3A42"/>
                </a:solidFill>
                <a:latin typeface="Calibri (MS)"/>
                <a:ea typeface="Calibri (MS)"/>
                <a:cs typeface="Calibri (MS)"/>
                <a:sym typeface="Calibri (MS)"/>
              </a:rPr>
              <a:t>ementar los conocimientos de desarrollo web y contenedorización mediante la creación y despliegue de un sitio web de perfil profesional optimizado, estructurado con HTML5 y CSS moderno, y empaquetado utilizando Nginx y Docker para su distribución en Docker Hub.</a:t>
            </a:r>
          </a:p>
          <a:p>
            <a:pPr algn="l">
              <a:lnSpc>
                <a:spcPts val="3960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952976" y="4107656"/>
            <a:ext cx="5294947" cy="4677728"/>
            <a:chOff x="0" y="0"/>
            <a:chExt cx="7059930" cy="623697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059930" cy="6236970"/>
            </a:xfrm>
            <a:custGeom>
              <a:avLst/>
              <a:gdLst/>
              <a:ahLst/>
              <a:cxnLst/>
              <a:rect r="r" b="b" t="t" l="l"/>
              <a:pathLst>
                <a:path h="6236970" w="7059930">
                  <a:moveTo>
                    <a:pt x="0" y="366903"/>
                  </a:moveTo>
                  <a:cubicBezTo>
                    <a:pt x="0" y="164211"/>
                    <a:pt x="164211" y="0"/>
                    <a:pt x="366903" y="0"/>
                  </a:cubicBezTo>
                  <a:lnTo>
                    <a:pt x="6693027" y="0"/>
                  </a:lnTo>
                  <a:cubicBezTo>
                    <a:pt x="6895592" y="0"/>
                    <a:pt x="7059930" y="164211"/>
                    <a:pt x="7059930" y="366903"/>
                  </a:cubicBezTo>
                  <a:lnTo>
                    <a:pt x="7059930" y="5870067"/>
                  </a:lnTo>
                  <a:cubicBezTo>
                    <a:pt x="7059930" y="6072632"/>
                    <a:pt x="6895719" y="6236970"/>
                    <a:pt x="6693027" y="6236970"/>
                  </a:cubicBezTo>
                  <a:lnTo>
                    <a:pt x="366903" y="6236970"/>
                  </a:lnTo>
                  <a:cubicBezTo>
                    <a:pt x="164211" y="6236970"/>
                    <a:pt x="0" y="6072759"/>
                    <a:pt x="0" y="5870067"/>
                  </a:cubicBezTo>
                  <a:close/>
                </a:path>
              </a:pathLst>
            </a:custGeom>
            <a:solidFill>
              <a:srgbClr val="DFF0EE"/>
            </a:solidFill>
            <a:ln w="14288" cap="sq">
              <a:solidFill>
                <a:srgbClr val="DFF0EE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440180" y="4402455"/>
            <a:ext cx="1371600" cy="1221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2F6B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40180" y="5625465"/>
            <a:ext cx="438912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3A3A4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Diseñar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40180" y="6477000"/>
            <a:ext cx="4389120" cy="1958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3A3A42"/>
                </a:solidFill>
                <a:latin typeface="Calibri (MS)"/>
                <a:ea typeface="Calibri (MS)"/>
                <a:cs typeface="Calibri (MS)"/>
                <a:sym typeface="Calibri (MS)"/>
              </a:rPr>
              <a:t>Mockup de alta fidelidad antes de programar: paleta pastel, tarjetas y menú flotante.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507956" y="4107656"/>
            <a:ext cx="5294947" cy="4677728"/>
            <a:chOff x="0" y="0"/>
            <a:chExt cx="7059930" cy="623697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059930" cy="6236970"/>
            </a:xfrm>
            <a:custGeom>
              <a:avLst/>
              <a:gdLst/>
              <a:ahLst/>
              <a:cxnLst/>
              <a:rect r="r" b="b" t="t" l="l"/>
              <a:pathLst>
                <a:path h="6236970" w="7059930">
                  <a:moveTo>
                    <a:pt x="0" y="366903"/>
                  </a:moveTo>
                  <a:cubicBezTo>
                    <a:pt x="0" y="164211"/>
                    <a:pt x="164211" y="0"/>
                    <a:pt x="366903" y="0"/>
                  </a:cubicBezTo>
                  <a:lnTo>
                    <a:pt x="6693027" y="0"/>
                  </a:lnTo>
                  <a:cubicBezTo>
                    <a:pt x="6895592" y="0"/>
                    <a:pt x="7059930" y="164211"/>
                    <a:pt x="7059930" y="366903"/>
                  </a:cubicBezTo>
                  <a:lnTo>
                    <a:pt x="7059930" y="5870067"/>
                  </a:lnTo>
                  <a:cubicBezTo>
                    <a:pt x="7059930" y="6072632"/>
                    <a:pt x="6895719" y="6236970"/>
                    <a:pt x="6693027" y="6236970"/>
                  </a:cubicBezTo>
                  <a:lnTo>
                    <a:pt x="366903" y="6236970"/>
                  </a:lnTo>
                  <a:cubicBezTo>
                    <a:pt x="164211" y="6236970"/>
                    <a:pt x="0" y="6072759"/>
                    <a:pt x="0" y="5870067"/>
                  </a:cubicBezTo>
                  <a:close/>
                </a:path>
              </a:pathLst>
            </a:custGeom>
            <a:solidFill>
              <a:srgbClr val="EBE8F7"/>
            </a:solidFill>
            <a:ln w="14288" cap="sq">
              <a:solidFill>
                <a:srgbClr val="EBE8F7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6995160" y="4402455"/>
            <a:ext cx="1371600" cy="1221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2F6B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995160" y="5625465"/>
            <a:ext cx="438912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3A3A4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Desarrollar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995160" y="6477000"/>
            <a:ext cx="4389120" cy="1958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3A3A42"/>
                </a:solidFill>
                <a:latin typeface="Calibri (MS)"/>
                <a:ea typeface="Calibri (MS)"/>
                <a:cs typeface="Calibri (MS)"/>
                <a:sym typeface="Calibri (MS)"/>
              </a:rPr>
              <a:t>HTML5 semántico y una hoja CSS externa, con diseño responsivo.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2062936" y="4107656"/>
            <a:ext cx="5294947" cy="4677728"/>
            <a:chOff x="0" y="0"/>
            <a:chExt cx="7059930" cy="623697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059930" cy="6236970"/>
            </a:xfrm>
            <a:custGeom>
              <a:avLst/>
              <a:gdLst/>
              <a:ahLst/>
              <a:cxnLst/>
              <a:rect r="r" b="b" t="t" l="l"/>
              <a:pathLst>
                <a:path h="6236970" w="7059930">
                  <a:moveTo>
                    <a:pt x="0" y="366903"/>
                  </a:moveTo>
                  <a:cubicBezTo>
                    <a:pt x="0" y="164211"/>
                    <a:pt x="164211" y="0"/>
                    <a:pt x="366903" y="0"/>
                  </a:cubicBezTo>
                  <a:lnTo>
                    <a:pt x="6693027" y="0"/>
                  </a:lnTo>
                  <a:cubicBezTo>
                    <a:pt x="6895592" y="0"/>
                    <a:pt x="7059930" y="164211"/>
                    <a:pt x="7059930" y="366903"/>
                  </a:cubicBezTo>
                  <a:lnTo>
                    <a:pt x="7059930" y="5870067"/>
                  </a:lnTo>
                  <a:cubicBezTo>
                    <a:pt x="7059930" y="6072632"/>
                    <a:pt x="6895719" y="6236970"/>
                    <a:pt x="6693027" y="6236970"/>
                  </a:cubicBezTo>
                  <a:lnTo>
                    <a:pt x="366903" y="6236970"/>
                  </a:lnTo>
                  <a:cubicBezTo>
                    <a:pt x="164211" y="6236970"/>
                    <a:pt x="0" y="6072759"/>
                    <a:pt x="0" y="5870067"/>
                  </a:cubicBezTo>
                  <a:close/>
                </a:path>
              </a:pathLst>
            </a:custGeom>
            <a:solidFill>
              <a:srgbClr val="F9EBD3"/>
            </a:solidFill>
            <a:ln w="14288" cap="sq">
              <a:solidFill>
                <a:srgbClr val="F9EBD3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12550140" y="4402455"/>
            <a:ext cx="1371600" cy="1221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2F6B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550140" y="5625465"/>
            <a:ext cx="438912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3A3A4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Publicar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550140" y="6477000"/>
            <a:ext cx="4389120" cy="1958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3A3A42"/>
                </a:solidFill>
                <a:latin typeface="Calibri (MS)"/>
                <a:ea typeface="Calibri (MS)"/>
                <a:cs typeface="Calibri (MS)"/>
                <a:sym typeface="Calibri (MS)"/>
              </a:rPr>
              <a:t>Imagen Docker con Nginx en Docker Hub y código fuente en GitHub.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962120" y="9618345"/>
            <a:ext cx="640080" cy="348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B0848A"/>
                </a:solidFill>
                <a:latin typeface="Calibri (MS)"/>
                <a:ea typeface="Calibri (MS)"/>
                <a:cs typeface="Calibri (MS)"/>
                <a:sym typeface="Calibri (MS)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548640"/>
            <a:ext cx="16322040" cy="1234440"/>
            <a:chOff x="0" y="0"/>
            <a:chExt cx="2176272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627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7635" r="0" b="-20763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21762720" cy="1760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2F6B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Mockup de alta fidelidad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2125980"/>
            <a:ext cx="11850624" cy="7406640"/>
            <a:chOff x="0" y="0"/>
            <a:chExt cx="15800832" cy="9875520"/>
          </a:xfrm>
        </p:grpSpPr>
        <p:sp>
          <p:nvSpPr>
            <p:cNvPr name="Freeform 6" id="6" descr="Mockup del sitio en escritorio y móvil"/>
            <p:cNvSpPr/>
            <p:nvPr/>
          </p:nvSpPr>
          <p:spPr>
            <a:xfrm flipH="false" flipV="false" rot="0">
              <a:off x="0" y="0"/>
              <a:ext cx="15800832" cy="9875520"/>
            </a:xfrm>
            <a:custGeom>
              <a:avLst/>
              <a:gdLst/>
              <a:ahLst/>
              <a:cxnLst/>
              <a:rect r="r" b="b" t="t" l="l"/>
              <a:pathLst>
                <a:path h="9875520" w="15800832">
                  <a:moveTo>
                    <a:pt x="0" y="0"/>
                  </a:moveTo>
                  <a:lnTo>
                    <a:pt x="15800832" y="0"/>
                  </a:lnTo>
                  <a:lnTo>
                    <a:pt x="15800832" y="9875520"/>
                  </a:lnTo>
                  <a:lnTo>
                    <a:pt x="0" y="9875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3297376" y="2324576"/>
            <a:ext cx="4060508" cy="2140267"/>
            <a:chOff x="0" y="0"/>
            <a:chExt cx="5414010" cy="28536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414010" cy="2853690"/>
            </a:xfrm>
            <a:custGeom>
              <a:avLst/>
              <a:gdLst/>
              <a:ahLst/>
              <a:cxnLst/>
              <a:rect r="r" b="b" t="t" l="l"/>
              <a:pathLst>
                <a:path h="2853690" w="5414010">
                  <a:moveTo>
                    <a:pt x="0" y="368173"/>
                  </a:moveTo>
                  <a:cubicBezTo>
                    <a:pt x="0" y="164846"/>
                    <a:pt x="164846" y="0"/>
                    <a:pt x="368173" y="0"/>
                  </a:cubicBezTo>
                  <a:lnTo>
                    <a:pt x="5045837" y="0"/>
                  </a:lnTo>
                  <a:cubicBezTo>
                    <a:pt x="5249164" y="0"/>
                    <a:pt x="5414010" y="164846"/>
                    <a:pt x="5414010" y="368173"/>
                  </a:cubicBezTo>
                  <a:lnTo>
                    <a:pt x="5414010" y="2485517"/>
                  </a:lnTo>
                  <a:cubicBezTo>
                    <a:pt x="5414010" y="2688844"/>
                    <a:pt x="5249164" y="2853690"/>
                    <a:pt x="5045837" y="2853690"/>
                  </a:cubicBezTo>
                  <a:lnTo>
                    <a:pt x="368173" y="2853690"/>
                  </a:lnTo>
                  <a:cubicBezTo>
                    <a:pt x="164846" y="2853690"/>
                    <a:pt x="0" y="2688844"/>
                    <a:pt x="0" y="2485517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FF0EE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3647420" y="2548890"/>
            <a:ext cx="3429000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2F6B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Paleta pastel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647420" y="3175635"/>
            <a:ext cx="3429000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3A3A42"/>
                </a:solidFill>
                <a:latin typeface="Calibri (MS)"/>
                <a:ea typeface="Calibri (MS)"/>
                <a:cs typeface="Calibri (MS)"/>
                <a:sym typeface="Calibri (MS)"/>
              </a:rPr>
              <a:t>Menta, lila, durazno y rosa sobre fondo crema.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3297376" y="4724876"/>
            <a:ext cx="4060508" cy="2140267"/>
            <a:chOff x="0" y="0"/>
            <a:chExt cx="5414010" cy="285369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414010" cy="2853690"/>
            </a:xfrm>
            <a:custGeom>
              <a:avLst/>
              <a:gdLst/>
              <a:ahLst/>
              <a:cxnLst/>
              <a:rect r="r" b="b" t="t" l="l"/>
              <a:pathLst>
                <a:path h="2853690" w="5414010">
                  <a:moveTo>
                    <a:pt x="0" y="368173"/>
                  </a:moveTo>
                  <a:cubicBezTo>
                    <a:pt x="0" y="164846"/>
                    <a:pt x="164846" y="0"/>
                    <a:pt x="368173" y="0"/>
                  </a:cubicBezTo>
                  <a:lnTo>
                    <a:pt x="5045837" y="0"/>
                  </a:lnTo>
                  <a:cubicBezTo>
                    <a:pt x="5249164" y="0"/>
                    <a:pt x="5414010" y="164846"/>
                    <a:pt x="5414010" y="368173"/>
                  </a:cubicBezTo>
                  <a:lnTo>
                    <a:pt x="5414010" y="2485517"/>
                  </a:lnTo>
                  <a:cubicBezTo>
                    <a:pt x="5414010" y="2688844"/>
                    <a:pt x="5249164" y="2853690"/>
                    <a:pt x="5045837" y="2853690"/>
                  </a:cubicBezTo>
                  <a:lnTo>
                    <a:pt x="368173" y="2853690"/>
                  </a:lnTo>
                  <a:cubicBezTo>
                    <a:pt x="164846" y="2853690"/>
                    <a:pt x="0" y="2688844"/>
                    <a:pt x="0" y="2485517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FF0EE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3647420" y="4949190"/>
            <a:ext cx="3429000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2F6B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Tarjetas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647420" y="5575935"/>
            <a:ext cx="3429000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3A3A42"/>
                </a:solidFill>
                <a:latin typeface="Calibri (MS)"/>
                <a:ea typeface="Calibri (MS)"/>
                <a:cs typeface="Calibri (MS)"/>
                <a:sym typeface="Calibri (MS)"/>
              </a:rPr>
              <a:t>Esquinas redondeadas y sombras suaves.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3297376" y="7125176"/>
            <a:ext cx="4060508" cy="2140267"/>
            <a:chOff x="0" y="0"/>
            <a:chExt cx="5414010" cy="285369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414010" cy="2853690"/>
            </a:xfrm>
            <a:custGeom>
              <a:avLst/>
              <a:gdLst/>
              <a:ahLst/>
              <a:cxnLst/>
              <a:rect r="r" b="b" t="t" l="l"/>
              <a:pathLst>
                <a:path h="2853690" w="5414010">
                  <a:moveTo>
                    <a:pt x="0" y="368173"/>
                  </a:moveTo>
                  <a:cubicBezTo>
                    <a:pt x="0" y="164846"/>
                    <a:pt x="164846" y="0"/>
                    <a:pt x="368173" y="0"/>
                  </a:cubicBezTo>
                  <a:lnTo>
                    <a:pt x="5045837" y="0"/>
                  </a:lnTo>
                  <a:cubicBezTo>
                    <a:pt x="5249164" y="0"/>
                    <a:pt x="5414010" y="164846"/>
                    <a:pt x="5414010" y="368173"/>
                  </a:cubicBezTo>
                  <a:lnTo>
                    <a:pt x="5414010" y="2485517"/>
                  </a:lnTo>
                  <a:cubicBezTo>
                    <a:pt x="5414010" y="2688844"/>
                    <a:pt x="5249164" y="2853690"/>
                    <a:pt x="5045837" y="2853690"/>
                  </a:cubicBezTo>
                  <a:lnTo>
                    <a:pt x="368173" y="2853690"/>
                  </a:lnTo>
                  <a:cubicBezTo>
                    <a:pt x="164846" y="2853690"/>
                    <a:pt x="0" y="2688844"/>
                    <a:pt x="0" y="2485517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FF0EE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3647420" y="7349490"/>
            <a:ext cx="3429000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2F6B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Menú flotante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647420" y="7976235"/>
            <a:ext cx="3429000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3A3A42"/>
                </a:solidFill>
                <a:latin typeface="Calibri (MS)"/>
                <a:ea typeface="Calibri (MS)"/>
                <a:cs typeface="Calibri (MS)"/>
                <a:sym typeface="Calibri (MS)"/>
              </a:rPr>
              <a:t>Barra tipo vidrio que se queda fija al bajar.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962120" y="9618345"/>
            <a:ext cx="640080" cy="348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B0848A"/>
                </a:solidFill>
                <a:latin typeface="Calibri (MS)"/>
                <a:ea typeface="Calibri (MS)"/>
                <a:cs typeface="Calibri (MS)"/>
                <a:sym typeface="Calibri (MS)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548640"/>
            <a:ext cx="16322040" cy="1234440"/>
            <a:chOff x="0" y="0"/>
            <a:chExt cx="2176272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627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7635" r="0" b="-20763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21762720" cy="1760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2F6B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Tecnologías utilizadas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52976" y="2255996"/>
            <a:ext cx="5294947" cy="3374708"/>
            <a:chOff x="0" y="0"/>
            <a:chExt cx="7059930" cy="449961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059930" cy="4499610"/>
            </a:xfrm>
            <a:custGeom>
              <a:avLst/>
              <a:gdLst/>
              <a:ahLst/>
              <a:cxnLst/>
              <a:rect r="r" b="b" t="t" l="l"/>
              <a:pathLst>
                <a:path h="4499610" w="7059930">
                  <a:moveTo>
                    <a:pt x="0" y="367284"/>
                  </a:moveTo>
                  <a:cubicBezTo>
                    <a:pt x="0" y="164465"/>
                    <a:pt x="164465" y="0"/>
                    <a:pt x="367284" y="0"/>
                  </a:cubicBezTo>
                  <a:lnTo>
                    <a:pt x="6692646" y="0"/>
                  </a:lnTo>
                  <a:cubicBezTo>
                    <a:pt x="6895464" y="0"/>
                    <a:pt x="7059930" y="164465"/>
                    <a:pt x="7059930" y="367284"/>
                  </a:cubicBezTo>
                  <a:lnTo>
                    <a:pt x="7059930" y="4132326"/>
                  </a:lnTo>
                  <a:cubicBezTo>
                    <a:pt x="7059930" y="4335145"/>
                    <a:pt x="6895464" y="4499610"/>
                    <a:pt x="6692646" y="4499610"/>
                  </a:cubicBezTo>
                  <a:lnTo>
                    <a:pt x="367284" y="4499610"/>
                  </a:lnTo>
                  <a:cubicBezTo>
                    <a:pt x="164465" y="4499610"/>
                    <a:pt x="0" y="4335145"/>
                    <a:pt x="0" y="4132326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FF0EE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362075" y="2665095"/>
            <a:ext cx="1116330" cy="1116330"/>
            <a:chOff x="0" y="0"/>
            <a:chExt cx="1488440" cy="14884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88440" cy="1488440"/>
            </a:xfrm>
            <a:custGeom>
              <a:avLst/>
              <a:gdLst/>
              <a:ahLst/>
              <a:cxnLst/>
              <a:rect r="r" b="b" t="t" l="l"/>
              <a:pathLst>
                <a:path h="1488440" w="1488440">
                  <a:moveTo>
                    <a:pt x="0" y="744220"/>
                  </a:moveTo>
                  <a:cubicBezTo>
                    <a:pt x="0" y="333248"/>
                    <a:pt x="333248" y="0"/>
                    <a:pt x="744220" y="0"/>
                  </a:cubicBezTo>
                  <a:cubicBezTo>
                    <a:pt x="1155192" y="0"/>
                    <a:pt x="1488440" y="333248"/>
                    <a:pt x="1488440" y="744220"/>
                  </a:cubicBezTo>
                  <a:cubicBezTo>
                    <a:pt x="1488440" y="1155192"/>
                    <a:pt x="1155192" y="1488440"/>
                    <a:pt x="744220" y="1488440"/>
                  </a:cubicBezTo>
                  <a:cubicBezTo>
                    <a:pt x="333248" y="1488440"/>
                    <a:pt x="0" y="1155192"/>
                    <a:pt x="0" y="744220"/>
                  </a:cubicBezTo>
                  <a:close/>
                </a:path>
              </a:pathLst>
            </a:custGeom>
            <a:solidFill>
              <a:srgbClr val="DFF0EE"/>
            </a:solidFill>
            <a:ln w="19050" cap="sq">
              <a:solidFill>
                <a:srgbClr val="DFF0EE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371600" y="2674620"/>
            <a:ext cx="1097280" cy="1097280"/>
            <a:chOff x="0" y="0"/>
            <a:chExt cx="1463040" cy="14630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46304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2F6B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H5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743200" y="2811780"/>
            <a:ext cx="3291840" cy="822960"/>
            <a:chOff x="0" y="0"/>
            <a:chExt cx="4389120" cy="10972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3891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438912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3A3A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HTML5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371600" y="3989070"/>
            <a:ext cx="4526280" cy="142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3A3A42"/>
                </a:solidFill>
                <a:latin typeface="Calibri (MS)"/>
                <a:ea typeface="Calibri (MS)"/>
                <a:cs typeface="Calibri (MS)"/>
                <a:sym typeface="Calibri (MS)"/>
              </a:rPr>
              <a:t>Estructura semántica: header, nav, main, section, footer y formulario.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507956" y="2255996"/>
            <a:ext cx="5294947" cy="3374708"/>
            <a:chOff x="0" y="0"/>
            <a:chExt cx="7059930" cy="449961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059930" cy="4499610"/>
            </a:xfrm>
            <a:custGeom>
              <a:avLst/>
              <a:gdLst/>
              <a:ahLst/>
              <a:cxnLst/>
              <a:rect r="r" b="b" t="t" l="l"/>
              <a:pathLst>
                <a:path h="4499610" w="7059930">
                  <a:moveTo>
                    <a:pt x="0" y="367284"/>
                  </a:moveTo>
                  <a:cubicBezTo>
                    <a:pt x="0" y="164465"/>
                    <a:pt x="164465" y="0"/>
                    <a:pt x="367284" y="0"/>
                  </a:cubicBezTo>
                  <a:lnTo>
                    <a:pt x="6692646" y="0"/>
                  </a:lnTo>
                  <a:cubicBezTo>
                    <a:pt x="6895464" y="0"/>
                    <a:pt x="7059930" y="164465"/>
                    <a:pt x="7059930" y="367284"/>
                  </a:cubicBezTo>
                  <a:lnTo>
                    <a:pt x="7059930" y="4132326"/>
                  </a:lnTo>
                  <a:cubicBezTo>
                    <a:pt x="7059930" y="4335145"/>
                    <a:pt x="6895464" y="4499610"/>
                    <a:pt x="6692646" y="4499610"/>
                  </a:cubicBezTo>
                  <a:lnTo>
                    <a:pt x="367284" y="4499610"/>
                  </a:lnTo>
                  <a:cubicBezTo>
                    <a:pt x="164465" y="4499610"/>
                    <a:pt x="0" y="4335145"/>
                    <a:pt x="0" y="4132326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FF0EE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6917055" y="2665095"/>
            <a:ext cx="1116330" cy="1116330"/>
            <a:chOff x="0" y="0"/>
            <a:chExt cx="1488440" cy="14884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88440" cy="1488440"/>
            </a:xfrm>
            <a:custGeom>
              <a:avLst/>
              <a:gdLst/>
              <a:ahLst/>
              <a:cxnLst/>
              <a:rect r="r" b="b" t="t" l="l"/>
              <a:pathLst>
                <a:path h="1488440" w="1488440">
                  <a:moveTo>
                    <a:pt x="0" y="744220"/>
                  </a:moveTo>
                  <a:cubicBezTo>
                    <a:pt x="0" y="333248"/>
                    <a:pt x="333248" y="0"/>
                    <a:pt x="744220" y="0"/>
                  </a:cubicBezTo>
                  <a:cubicBezTo>
                    <a:pt x="1155192" y="0"/>
                    <a:pt x="1488440" y="333248"/>
                    <a:pt x="1488440" y="744220"/>
                  </a:cubicBezTo>
                  <a:cubicBezTo>
                    <a:pt x="1488440" y="1155192"/>
                    <a:pt x="1155192" y="1488440"/>
                    <a:pt x="744220" y="1488440"/>
                  </a:cubicBezTo>
                  <a:cubicBezTo>
                    <a:pt x="333248" y="1488440"/>
                    <a:pt x="0" y="1155192"/>
                    <a:pt x="0" y="744220"/>
                  </a:cubicBezTo>
                  <a:close/>
                </a:path>
              </a:pathLst>
            </a:custGeom>
            <a:solidFill>
              <a:srgbClr val="EBE8F7"/>
            </a:solidFill>
            <a:ln w="19050" cap="sq">
              <a:solidFill>
                <a:srgbClr val="EBE8F7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6926580" y="2674620"/>
            <a:ext cx="1097280" cy="1097280"/>
            <a:chOff x="0" y="0"/>
            <a:chExt cx="1463040" cy="14630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46304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2F6B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CSS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298180" y="2811780"/>
            <a:ext cx="3291840" cy="822960"/>
            <a:chOff x="0" y="0"/>
            <a:chExt cx="4389120" cy="10972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3891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66675"/>
              <a:ext cx="438912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3A3A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CSS3 externo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6926580" y="3989070"/>
            <a:ext cx="4526280" cy="142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3A3A42"/>
                </a:solidFill>
                <a:latin typeface="Calibri (MS)"/>
                <a:ea typeface="Calibri (MS)"/>
                <a:cs typeface="Calibri (MS)"/>
                <a:sym typeface="Calibri (MS)"/>
              </a:rPr>
              <a:t>Selectores, cascada, especificidad, herencia, grid y media queries.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2062936" y="2255996"/>
            <a:ext cx="5294947" cy="3374708"/>
            <a:chOff x="0" y="0"/>
            <a:chExt cx="7059930" cy="449961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059930" cy="4499610"/>
            </a:xfrm>
            <a:custGeom>
              <a:avLst/>
              <a:gdLst/>
              <a:ahLst/>
              <a:cxnLst/>
              <a:rect r="r" b="b" t="t" l="l"/>
              <a:pathLst>
                <a:path h="4499610" w="7059930">
                  <a:moveTo>
                    <a:pt x="0" y="367284"/>
                  </a:moveTo>
                  <a:cubicBezTo>
                    <a:pt x="0" y="164465"/>
                    <a:pt x="164465" y="0"/>
                    <a:pt x="367284" y="0"/>
                  </a:cubicBezTo>
                  <a:lnTo>
                    <a:pt x="6692646" y="0"/>
                  </a:lnTo>
                  <a:cubicBezTo>
                    <a:pt x="6895464" y="0"/>
                    <a:pt x="7059930" y="164465"/>
                    <a:pt x="7059930" y="367284"/>
                  </a:cubicBezTo>
                  <a:lnTo>
                    <a:pt x="7059930" y="4132326"/>
                  </a:lnTo>
                  <a:cubicBezTo>
                    <a:pt x="7059930" y="4335145"/>
                    <a:pt x="6895464" y="4499610"/>
                    <a:pt x="6692646" y="4499610"/>
                  </a:cubicBezTo>
                  <a:lnTo>
                    <a:pt x="367284" y="4499610"/>
                  </a:lnTo>
                  <a:cubicBezTo>
                    <a:pt x="164465" y="4499610"/>
                    <a:pt x="0" y="4335145"/>
                    <a:pt x="0" y="4132326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FF0EE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2472035" y="2665095"/>
            <a:ext cx="1116330" cy="1116330"/>
            <a:chOff x="0" y="0"/>
            <a:chExt cx="1488440" cy="14884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488440" cy="1488440"/>
            </a:xfrm>
            <a:custGeom>
              <a:avLst/>
              <a:gdLst/>
              <a:ahLst/>
              <a:cxnLst/>
              <a:rect r="r" b="b" t="t" l="l"/>
              <a:pathLst>
                <a:path h="1488440" w="1488440">
                  <a:moveTo>
                    <a:pt x="0" y="744220"/>
                  </a:moveTo>
                  <a:cubicBezTo>
                    <a:pt x="0" y="333248"/>
                    <a:pt x="333248" y="0"/>
                    <a:pt x="744220" y="0"/>
                  </a:cubicBezTo>
                  <a:cubicBezTo>
                    <a:pt x="1155192" y="0"/>
                    <a:pt x="1488440" y="333248"/>
                    <a:pt x="1488440" y="744220"/>
                  </a:cubicBezTo>
                  <a:cubicBezTo>
                    <a:pt x="1488440" y="1155192"/>
                    <a:pt x="1155192" y="1488440"/>
                    <a:pt x="744220" y="1488440"/>
                  </a:cubicBezTo>
                  <a:cubicBezTo>
                    <a:pt x="333248" y="1488440"/>
                    <a:pt x="0" y="1155192"/>
                    <a:pt x="0" y="744220"/>
                  </a:cubicBezTo>
                  <a:close/>
                </a:path>
              </a:pathLst>
            </a:custGeom>
            <a:solidFill>
              <a:srgbClr val="F9EBD3"/>
            </a:solidFill>
            <a:ln w="19050" cap="sq">
              <a:solidFill>
                <a:srgbClr val="F9EBD3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2481560" y="2674620"/>
            <a:ext cx="1097280" cy="1097280"/>
            <a:chOff x="0" y="0"/>
            <a:chExt cx="1463040" cy="14630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146304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2F6B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Nx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3853160" y="2811780"/>
            <a:ext cx="3291840" cy="822960"/>
            <a:chOff x="0" y="0"/>
            <a:chExt cx="4389120" cy="10972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3891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66675"/>
              <a:ext cx="438912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3A3A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Nginx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2481560" y="3989070"/>
            <a:ext cx="4526280" cy="142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3A3A42"/>
                </a:solidFill>
                <a:latin typeface="Calibri (MS)"/>
                <a:ea typeface="Calibri (MS)"/>
                <a:cs typeface="Calibri (MS)"/>
                <a:sym typeface="Calibri (MS)"/>
              </a:rPr>
              <a:t>Servidor web dentro del contenedor.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952976" y="5959316"/>
            <a:ext cx="5294947" cy="3374708"/>
            <a:chOff x="0" y="0"/>
            <a:chExt cx="7059930" cy="449961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059930" cy="4499610"/>
            </a:xfrm>
            <a:custGeom>
              <a:avLst/>
              <a:gdLst/>
              <a:ahLst/>
              <a:cxnLst/>
              <a:rect r="r" b="b" t="t" l="l"/>
              <a:pathLst>
                <a:path h="4499610" w="7059930">
                  <a:moveTo>
                    <a:pt x="0" y="367284"/>
                  </a:moveTo>
                  <a:cubicBezTo>
                    <a:pt x="0" y="164465"/>
                    <a:pt x="164465" y="0"/>
                    <a:pt x="367284" y="0"/>
                  </a:cubicBezTo>
                  <a:lnTo>
                    <a:pt x="6692646" y="0"/>
                  </a:lnTo>
                  <a:cubicBezTo>
                    <a:pt x="6895464" y="0"/>
                    <a:pt x="7059930" y="164465"/>
                    <a:pt x="7059930" y="367284"/>
                  </a:cubicBezTo>
                  <a:lnTo>
                    <a:pt x="7059930" y="4132326"/>
                  </a:lnTo>
                  <a:cubicBezTo>
                    <a:pt x="7059930" y="4335145"/>
                    <a:pt x="6895464" y="4499610"/>
                    <a:pt x="6692646" y="4499610"/>
                  </a:cubicBezTo>
                  <a:lnTo>
                    <a:pt x="367284" y="4499610"/>
                  </a:lnTo>
                  <a:cubicBezTo>
                    <a:pt x="164465" y="4499610"/>
                    <a:pt x="0" y="4335145"/>
                    <a:pt x="0" y="4132326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FF0EE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362075" y="6368415"/>
            <a:ext cx="1116330" cy="1116330"/>
            <a:chOff x="0" y="0"/>
            <a:chExt cx="1488440" cy="14884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488440" cy="1488440"/>
            </a:xfrm>
            <a:custGeom>
              <a:avLst/>
              <a:gdLst/>
              <a:ahLst/>
              <a:cxnLst/>
              <a:rect r="r" b="b" t="t" l="l"/>
              <a:pathLst>
                <a:path h="1488440" w="1488440">
                  <a:moveTo>
                    <a:pt x="0" y="744220"/>
                  </a:moveTo>
                  <a:cubicBezTo>
                    <a:pt x="0" y="333248"/>
                    <a:pt x="333248" y="0"/>
                    <a:pt x="744220" y="0"/>
                  </a:cubicBezTo>
                  <a:cubicBezTo>
                    <a:pt x="1155192" y="0"/>
                    <a:pt x="1488440" y="333248"/>
                    <a:pt x="1488440" y="744220"/>
                  </a:cubicBezTo>
                  <a:cubicBezTo>
                    <a:pt x="1488440" y="1155192"/>
                    <a:pt x="1155192" y="1488440"/>
                    <a:pt x="744220" y="1488440"/>
                  </a:cubicBezTo>
                  <a:cubicBezTo>
                    <a:pt x="333248" y="1488440"/>
                    <a:pt x="0" y="1155192"/>
                    <a:pt x="0" y="744220"/>
                  </a:cubicBezTo>
                  <a:close/>
                </a:path>
              </a:pathLst>
            </a:custGeom>
            <a:solidFill>
              <a:srgbClr val="F7E3E4"/>
            </a:solidFill>
            <a:ln w="19050" cap="sq">
              <a:solidFill>
                <a:srgbClr val="F7E3E4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371600" y="6377940"/>
            <a:ext cx="1097280" cy="1097280"/>
            <a:chOff x="0" y="0"/>
            <a:chExt cx="1463040" cy="14630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146304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2F6B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Dk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2743200" y="6515100"/>
            <a:ext cx="3291840" cy="822960"/>
            <a:chOff x="0" y="0"/>
            <a:chExt cx="4389120" cy="10972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3891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66675"/>
              <a:ext cx="438912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3A3A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Docker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1371600" y="7692390"/>
            <a:ext cx="4526280" cy="142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3A3A42"/>
                </a:solidFill>
                <a:latin typeface="Calibri (MS)"/>
                <a:ea typeface="Calibri (MS)"/>
                <a:cs typeface="Calibri (MS)"/>
                <a:sym typeface="Calibri (MS)"/>
              </a:rPr>
              <a:t>Empaqueta el sitio en una imagen portable.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6507956" y="5959316"/>
            <a:ext cx="5294947" cy="3374708"/>
            <a:chOff x="0" y="0"/>
            <a:chExt cx="7059930" cy="449961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059930" cy="4499610"/>
            </a:xfrm>
            <a:custGeom>
              <a:avLst/>
              <a:gdLst/>
              <a:ahLst/>
              <a:cxnLst/>
              <a:rect r="r" b="b" t="t" l="l"/>
              <a:pathLst>
                <a:path h="4499610" w="7059930">
                  <a:moveTo>
                    <a:pt x="0" y="367284"/>
                  </a:moveTo>
                  <a:cubicBezTo>
                    <a:pt x="0" y="164465"/>
                    <a:pt x="164465" y="0"/>
                    <a:pt x="367284" y="0"/>
                  </a:cubicBezTo>
                  <a:lnTo>
                    <a:pt x="6692646" y="0"/>
                  </a:lnTo>
                  <a:cubicBezTo>
                    <a:pt x="6895464" y="0"/>
                    <a:pt x="7059930" y="164465"/>
                    <a:pt x="7059930" y="367284"/>
                  </a:cubicBezTo>
                  <a:lnTo>
                    <a:pt x="7059930" y="4132326"/>
                  </a:lnTo>
                  <a:cubicBezTo>
                    <a:pt x="7059930" y="4335145"/>
                    <a:pt x="6895464" y="4499610"/>
                    <a:pt x="6692646" y="4499610"/>
                  </a:cubicBezTo>
                  <a:lnTo>
                    <a:pt x="367284" y="4499610"/>
                  </a:lnTo>
                  <a:cubicBezTo>
                    <a:pt x="164465" y="4499610"/>
                    <a:pt x="0" y="4335145"/>
                    <a:pt x="0" y="4132326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FF0EE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6917055" y="6368415"/>
            <a:ext cx="1116330" cy="1116330"/>
            <a:chOff x="0" y="0"/>
            <a:chExt cx="1488440" cy="14884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488440" cy="1488440"/>
            </a:xfrm>
            <a:custGeom>
              <a:avLst/>
              <a:gdLst/>
              <a:ahLst/>
              <a:cxnLst/>
              <a:rect r="r" b="b" t="t" l="l"/>
              <a:pathLst>
                <a:path h="1488440" w="1488440">
                  <a:moveTo>
                    <a:pt x="0" y="744220"/>
                  </a:moveTo>
                  <a:cubicBezTo>
                    <a:pt x="0" y="333248"/>
                    <a:pt x="333248" y="0"/>
                    <a:pt x="744220" y="0"/>
                  </a:cubicBezTo>
                  <a:cubicBezTo>
                    <a:pt x="1155192" y="0"/>
                    <a:pt x="1488440" y="333248"/>
                    <a:pt x="1488440" y="744220"/>
                  </a:cubicBezTo>
                  <a:cubicBezTo>
                    <a:pt x="1488440" y="1155192"/>
                    <a:pt x="1155192" y="1488440"/>
                    <a:pt x="744220" y="1488440"/>
                  </a:cubicBezTo>
                  <a:cubicBezTo>
                    <a:pt x="333248" y="1488440"/>
                    <a:pt x="0" y="1155192"/>
                    <a:pt x="0" y="744220"/>
                  </a:cubicBezTo>
                  <a:close/>
                </a:path>
              </a:pathLst>
            </a:custGeom>
            <a:solidFill>
              <a:srgbClr val="DFF0EE"/>
            </a:solidFill>
            <a:ln w="19050" cap="sq">
              <a:solidFill>
                <a:srgbClr val="DFF0EE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6926580" y="6377940"/>
            <a:ext cx="1097280" cy="1097280"/>
            <a:chOff x="0" y="0"/>
            <a:chExt cx="1463040" cy="14630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146304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2F6B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Hub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8298180" y="6515100"/>
            <a:ext cx="3291840" cy="822960"/>
            <a:chOff x="0" y="0"/>
            <a:chExt cx="4389120" cy="109728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3891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66675"/>
              <a:ext cx="438912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3A3A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Docker Hub</a:t>
              </a:r>
            </a:p>
          </p:txBody>
        </p:sp>
      </p:grpSp>
      <p:sp>
        <p:nvSpPr>
          <p:cNvPr name="TextBox 59" id="59"/>
          <p:cNvSpPr txBox="true"/>
          <p:nvPr/>
        </p:nvSpPr>
        <p:spPr>
          <a:xfrm rot="0">
            <a:off x="6926580" y="7692390"/>
            <a:ext cx="4526280" cy="142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3A3A42"/>
                </a:solidFill>
                <a:latin typeface="Calibri (MS)"/>
                <a:ea typeface="Calibri (MS)"/>
                <a:cs typeface="Calibri (MS)"/>
                <a:sym typeface="Calibri (MS)"/>
              </a:rPr>
              <a:t>Repositorio donde se publica la imagen.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12062936" y="5959316"/>
            <a:ext cx="5294947" cy="3374708"/>
            <a:chOff x="0" y="0"/>
            <a:chExt cx="7059930" cy="449961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7059930" cy="4499610"/>
            </a:xfrm>
            <a:custGeom>
              <a:avLst/>
              <a:gdLst/>
              <a:ahLst/>
              <a:cxnLst/>
              <a:rect r="r" b="b" t="t" l="l"/>
              <a:pathLst>
                <a:path h="4499610" w="7059930">
                  <a:moveTo>
                    <a:pt x="0" y="367284"/>
                  </a:moveTo>
                  <a:cubicBezTo>
                    <a:pt x="0" y="164465"/>
                    <a:pt x="164465" y="0"/>
                    <a:pt x="367284" y="0"/>
                  </a:cubicBezTo>
                  <a:lnTo>
                    <a:pt x="6692646" y="0"/>
                  </a:lnTo>
                  <a:cubicBezTo>
                    <a:pt x="6895464" y="0"/>
                    <a:pt x="7059930" y="164465"/>
                    <a:pt x="7059930" y="367284"/>
                  </a:cubicBezTo>
                  <a:lnTo>
                    <a:pt x="7059930" y="4132326"/>
                  </a:lnTo>
                  <a:cubicBezTo>
                    <a:pt x="7059930" y="4335145"/>
                    <a:pt x="6895464" y="4499610"/>
                    <a:pt x="6692646" y="4499610"/>
                  </a:cubicBezTo>
                  <a:lnTo>
                    <a:pt x="367284" y="4499610"/>
                  </a:lnTo>
                  <a:cubicBezTo>
                    <a:pt x="164465" y="4499610"/>
                    <a:pt x="0" y="4335145"/>
                    <a:pt x="0" y="4132326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FF0EE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12472035" y="6368415"/>
            <a:ext cx="1116330" cy="1116330"/>
            <a:chOff x="0" y="0"/>
            <a:chExt cx="1488440" cy="14884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488440" cy="1488440"/>
            </a:xfrm>
            <a:custGeom>
              <a:avLst/>
              <a:gdLst/>
              <a:ahLst/>
              <a:cxnLst/>
              <a:rect r="r" b="b" t="t" l="l"/>
              <a:pathLst>
                <a:path h="1488440" w="1488440">
                  <a:moveTo>
                    <a:pt x="0" y="744220"/>
                  </a:moveTo>
                  <a:cubicBezTo>
                    <a:pt x="0" y="333248"/>
                    <a:pt x="333248" y="0"/>
                    <a:pt x="744220" y="0"/>
                  </a:cubicBezTo>
                  <a:cubicBezTo>
                    <a:pt x="1155192" y="0"/>
                    <a:pt x="1488440" y="333248"/>
                    <a:pt x="1488440" y="744220"/>
                  </a:cubicBezTo>
                  <a:cubicBezTo>
                    <a:pt x="1488440" y="1155192"/>
                    <a:pt x="1155192" y="1488440"/>
                    <a:pt x="744220" y="1488440"/>
                  </a:cubicBezTo>
                  <a:cubicBezTo>
                    <a:pt x="333248" y="1488440"/>
                    <a:pt x="0" y="1155192"/>
                    <a:pt x="0" y="744220"/>
                  </a:cubicBezTo>
                  <a:close/>
                </a:path>
              </a:pathLst>
            </a:custGeom>
            <a:solidFill>
              <a:srgbClr val="EBE8F7"/>
            </a:solidFill>
            <a:ln w="19050" cap="sq">
              <a:solidFill>
                <a:srgbClr val="EBE8F7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12481560" y="6377940"/>
            <a:ext cx="1097280" cy="1097280"/>
            <a:chOff x="0" y="0"/>
            <a:chExt cx="1463040" cy="146304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146304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2F6B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Git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3853160" y="6515100"/>
            <a:ext cx="3291840" cy="822960"/>
            <a:chOff x="0" y="0"/>
            <a:chExt cx="4389120" cy="109728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43891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66675"/>
              <a:ext cx="438912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3A3A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Git y GitHub</a:t>
              </a:r>
            </a:p>
          </p:txBody>
        </p:sp>
      </p:grpSp>
      <p:sp>
        <p:nvSpPr>
          <p:cNvPr name="TextBox 70" id="70"/>
          <p:cNvSpPr txBox="true"/>
          <p:nvPr/>
        </p:nvSpPr>
        <p:spPr>
          <a:xfrm rot="0">
            <a:off x="12481560" y="7692390"/>
            <a:ext cx="4526280" cy="142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3A3A42"/>
                </a:solidFill>
                <a:latin typeface="Calibri (MS)"/>
                <a:ea typeface="Calibri (MS)"/>
                <a:cs typeface="Calibri (MS)"/>
                <a:sym typeface="Calibri (MS)"/>
              </a:rPr>
              <a:t>Control de versiones y código fuente en línea.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6962120" y="9618345"/>
            <a:ext cx="640080" cy="348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B0848A"/>
                </a:solidFill>
                <a:latin typeface="Calibri (MS)"/>
                <a:ea typeface="Calibri (MS)"/>
                <a:cs typeface="Calibri (MS)"/>
                <a:sym typeface="Calibri (MS)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548640"/>
            <a:ext cx="16322040" cy="1234440"/>
            <a:chOff x="0" y="0"/>
            <a:chExt cx="2176272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627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7635" r="0" b="-20763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21762720" cy="1760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2F6B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Estructura del proyecto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52976" y="2255996"/>
            <a:ext cx="7695247" cy="6872288"/>
            <a:chOff x="0" y="0"/>
            <a:chExt cx="10260330" cy="91630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260330" cy="9163050"/>
            </a:xfrm>
            <a:custGeom>
              <a:avLst/>
              <a:gdLst/>
              <a:ahLst/>
              <a:cxnLst/>
              <a:rect r="r" b="b" t="t" l="l"/>
              <a:pathLst>
                <a:path h="9163050" w="10260330">
                  <a:moveTo>
                    <a:pt x="0" y="366522"/>
                  </a:moveTo>
                  <a:cubicBezTo>
                    <a:pt x="0" y="164084"/>
                    <a:pt x="164084" y="0"/>
                    <a:pt x="366522" y="0"/>
                  </a:cubicBezTo>
                  <a:lnTo>
                    <a:pt x="9893808" y="0"/>
                  </a:lnTo>
                  <a:cubicBezTo>
                    <a:pt x="10096246" y="0"/>
                    <a:pt x="10260330" y="164084"/>
                    <a:pt x="10260330" y="366522"/>
                  </a:cubicBezTo>
                  <a:lnTo>
                    <a:pt x="10260330" y="8796528"/>
                  </a:lnTo>
                  <a:cubicBezTo>
                    <a:pt x="10260330" y="8998966"/>
                    <a:pt x="10096246" y="9163050"/>
                    <a:pt x="9893808" y="9163050"/>
                  </a:cubicBezTo>
                  <a:lnTo>
                    <a:pt x="366522" y="9163050"/>
                  </a:lnTo>
                  <a:cubicBezTo>
                    <a:pt x="164084" y="9163050"/>
                    <a:pt x="0" y="8998966"/>
                    <a:pt x="0" y="879652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FF0EE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508760" y="2588895"/>
            <a:ext cx="6858000" cy="6120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700">
                <a:solidFill>
                  <a:srgbClr val="3A3A42"/>
                </a:solidFill>
                <a:latin typeface="Courier New"/>
                <a:ea typeface="Courier New"/>
                <a:cs typeface="Courier New"/>
                <a:sym typeface="Courier New"/>
              </a:rPr>
              <a:t>perfil-profesional/</a:t>
            </a:r>
          </a:p>
          <a:p>
            <a:pPr algn="l">
              <a:lnSpc>
                <a:spcPts val="4050"/>
              </a:lnSpc>
            </a:pPr>
            <a:r>
              <a:rPr lang="en-US" sz="2700">
                <a:solidFill>
                  <a:srgbClr val="3A3A42"/>
                </a:solidFill>
                <a:latin typeface="Courier New"/>
                <a:ea typeface="Courier New"/>
                <a:cs typeface="Courier New"/>
                <a:sym typeface="Courier New"/>
              </a:rPr>
              <a:t>├── index.html</a:t>
            </a:r>
          </a:p>
          <a:p>
            <a:pPr algn="l">
              <a:lnSpc>
                <a:spcPts val="4050"/>
              </a:lnSpc>
            </a:pPr>
            <a:r>
              <a:rPr lang="en-US" sz="2700">
                <a:solidFill>
                  <a:srgbClr val="3A3A42"/>
                </a:solidFill>
                <a:latin typeface="Courier New"/>
                <a:ea typeface="Courier New"/>
                <a:cs typeface="Courier New"/>
                <a:sym typeface="Courier New"/>
              </a:rPr>
              <a:t>├── css/</a:t>
            </a:r>
          </a:p>
          <a:p>
            <a:pPr algn="l">
              <a:lnSpc>
                <a:spcPts val="4050"/>
              </a:lnSpc>
            </a:pPr>
            <a:r>
              <a:rPr lang="en-US" sz="2700">
                <a:solidFill>
                  <a:srgbClr val="3A3A42"/>
                </a:solidFill>
                <a:latin typeface="Courier New"/>
                <a:ea typeface="Courier New"/>
                <a:cs typeface="Courier New"/>
                <a:sym typeface="Courier New"/>
              </a:rPr>
              <a:t>│   └── styles.css</a:t>
            </a:r>
          </a:p>
          <a:p>
            <a:pPr algn="l">
              <a:lnSpc>
                <a:spcPts val="4050"/>
              </a:lnSpc>
            </a:pPr>
            <a:r>
              <a:rPr lang="en-US" sz="2700">
                <a:solidFill>
                  <a:srgbClr val="3A3A42"/>
                </a:solidFill>
                <a:latin typeface="Courier New"/>
                <a:ea typeface="Courier New"/>
                <a:cs typeface="Courier New"/>
                <a:sym typeface="Courier New"/>
              </a:rPr>
              <a:t>├── img/</a:t>
            </a:r>
          </a:p>
          <a:p>
            <a:pPr algn="l">
              <a:lnSpc>
                <a:spcPts val="4050"/>
              </a:lnSpc>
            </a:pPr>
            <a:r>
              <a:rPr lang="en-US" sz="2700">
                <a:solidFill>
                  <a:srgbClr val="3A3A42"/>
                </a:solidFill>
                <a:latin typeface="Courier New"/>
                <a:ea typeface="Courier New"/>
                <a:cs typeface="Courier New"/>
                <a:sym typeface="Courier New"/>
              </a:rPr>
              <a:t>├── docs/</a:t>
            </a:r>
          </a:p>
          <a:p>
            <a:pPr algn="l">
              <a:lnSpc>
                <a:spcPts val="4050"/>
              </a:lnSpc>
            </a:pPr>
            <a:r>
              <a:rPr lang="en-US" sz="2700">
                <a:solidFill>
                  <a:srgbClr val="3A3A42"/>
                </a:solidFill>
                <a:latin typeface="Courier New"/>
                <a:ea typeface="Courier New"/>
                <a:cs typeface="Courier New"/>
                <a:sym typeface="Courier New"/>
              </a:rPr>
              <a:t>│   └── mockup.png</a:t>
            </a:r>
          </a:p>
          <a:p>
            <a:pPr algn="l">
              <a:lnSpc>
                <a:spcPts val="4050"/>
              </a:lnSpc>
            </a:pPr>
            <a:r>
              <a:rPr lang="en-US" sz="2700">
                <a:solidFill>
                  <a:srgbClr val="3A3A42"/>
                </a:solidFill>
                <a:latin typeface="Courier New"/>
                <a:ea typeface="Courier New"/>
                <a:cs typeface="Courier New"/>
                <a:sym typeface="Courier New"/>
              </a:rPr>
              <a:t>├── Dockerfile</a:t>
            </a:r>
          </a:p>
          <a:p>
            <a:pPr algn="l">
              <a:lnSpc>
                <a:spcPts val="4050"/>
              </a:lnSpc>
            </a:pPr>
            <a:r>
              <a:rPr lang="en-US" sz="2700">
                <a:solidFill>
                  <a:srgbClr val="3A3A42"/>
                </a:solidFill>
                <a:latin typeface="Courier New"/>
                <a:ea typeface="Courier New"/>
                <a:cs typeface="Courier New"/>
                <a:sym typeface="Courier New"/>
              </a:rPr>
              <a:t>└── README.md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182576" y="2255996"/>
            <a:ext cx="8175307" cy="1221296"/>
            <a:chOff x="0" y="0"/>
            <a:chExt cx="10900410" cy="162839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00410" cy="1628394"/>
            </a:xfrm>
            <a:custGeom>
              <a:avLst/>
              <a:gdLst/>
              <a:ahLst/>
              <a:cxnLst/>
              <a:rect r="r" b="b" t="t" l="l"/>
              <a:pathLst>
                <a:path h="1628394" w="10900410">
                  <a:moveTo>
                    <a:pt x="0" y="370078"/>
                  </a:moveTo>
                  <a:cubicBezTo>
                    <a:pt x="0" y="165735"/>
                    <a:pt x="165735" y="0"/>
                    <a:pt x="370078" y="0"/>
                  </a:cubicBezTo>
                  <a:lnTo>
                    <a:pt x="10530332" y="0"/>
                  </a:lnTo>
                  <a:cubicBezTo>
                    <a:pt x="10734675" y="0"/>
                    <a:pt x="10900410" y="165735"/>
                    <a:pt x="10900410" y="370078"/>
                  </a:cubicBezTo>
                  <a:lnTo>
                    <a:pt x="10900410" y="1258316"/>
                  </a:lnTo>
                  <a:cubicBezTo>
                    <a:pt x="10900410" y="1462659"/>
                    <a:pt x="10734675" y="1628394"/>
                    <a:pt x="10530332" y="1628394"/>
                  </a:cubicBezTo>
                  <a:lnTo>
                    <a:pt x="370078" y="1628394"/>
                  </a:lnTo>
                  <a:cubicBezTo>
                    <a:pt x="165735" y="1628394"/>
                    <a:pt x="0" y="1462659"/>
                    <a:pt x="0" y="1258316"/>
                  </a:cubicBezTo>
                  <a:close/>
                </a:path>
              </a:pathLst>
            </a:custGeom>
            <a:solidFill>
              <a:srgbClr val="DFF0EE"/>
            </a:solidFill>
            <a:ln w="14288" cap="sq">
              <a:solidFill>
                <a:srgbClr val="DFF0EE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9532620" y="2263140"/>
            <a:ext cx="2606040" cy="1207008"/>
            <a:chOff x="0" y="0"/>
            <a:chExt cx="3474720" cy="160934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474720" cy="1609344"/>
            </a:xfrm>
            <a:custGeom>
              <a:avLst/>
              <a:gdLst/>
              <a:ahLst/>
              <a:cxnLst/>
              <a:rect r="r" b="b" t="t" l="l"/>
              <a:pathLst>
                <a:path h="1609344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424" t="0" r="-9424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474720" cy="16474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2F6B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index.html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207240" y="2263140"/>
            <a:ext cx="4937760" cy="1207008"/>
            <a:chOff x="0" y="0"/>
            <a:chExt cx="6583680" cy="160934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583680" cy="1609344"/>
            </a:xfrm>
            <a:custGeom>
              <a:avLst/>
              <a:gdLst/>
              <a:ahLst/>
              <a:cxnLst/>
              <a:rect r="r" b="b" t="t" l="l"/>
              <a:pathLst>
                <a:path h="1609344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711" r="0" b="-2971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6583680" cy="16569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A3A4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Página principal con HTML5 semántico.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182576" y="3655028"/>
            <a:ext cx="8175307" cy="1221296"/>
            <a:chOff x="0" y="0"/>
            <a:chExt cx="10900410" cy="162839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00410" cy="1628394"/>
            </a:xfrm>
            <a:custGeom>
              <a:avLst/>
              <a:gdLst/>
              <a:ahLst/>
              <a:cxnLst/>
              <a:rect r="r" b="b" t="t" l="l"/>
              <a:pathLst>
                <a:path h="1628394" w="10900410">
                  <a:moveTo>
                    <a:pt x="0" y="370078"/>
                  </a:moveTo>
                  <a:cubicBezTo>
                    <a:pt x="0" y="165735"/>
                    <a:pt x="165735" y="0"/>
                    <a:pt x="370078" y="0"/>
                  </a:cubicBezTo>
                  <a:lnTo>
                    <a:pt x="10530332" y="0"/>
                  </a:lnTo>
                  <a:cubicBezTo>
                    <a:pt x="10734675" y="0"/>
                    <a:pt x="10900410" y="165735"/>
                    <a:pt x="10900410" y="370078"/>
                  </a:cubicBezTo>
                  <a:lnTo>
                    <a:pt x="10900410" y="1258316"/>
                  </a:lnTo>
                  <a:cubicBezTo>
                    <a:pt x="10900410" y="1462659"/>
                    <a:pt x="10734675" y="1628394"/>
                    <a:pt x="10530332" y="1628394"/>
                  </a:cubicBezTo>
                  <a:lnTo>
                    <a:pt x="370078" y="1628394"/>
                  </a:lnTo>
                  <a:cubicBezTo>
                    <a:pt x="165735" y="1628394"/>
                    <a:pt x="0" y="1462659"/>
                    <a:pt x="0" y="1258316"/>
                  </a:cubicBezTo>
                  <a:close/>
                </a:path>
              </a:pathLst>
            </a:custGeom>
            <a:solidFill>
              <a:srgbClr val="EBE8F7"/>
            </a:solidFill>
            <a:ln w="14288" cap="sq">
              <a:solidFill>
                <a:srgbClr val="EBE8F7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9532620" y="3662172"/>
            <a:ext cx="2606040" cy="1207008"/>
            <a:chOff x="0" y="0"/>
            <a:chExt cx="3474720" cy="160934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474720" cy="1609344"/>
            </a:xfrm>
            <a:custGeom>
              <a:avLst/>
              <a:gdLst/>
              <a:ahLst/>
              <a:cxnLst/>
              <a:rect r="r" b="b" t="t" l="l"/>
              <a:pathLst>
                <a:path h="1609344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424" t="0" r="-9424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474720" cy="16474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2F6B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css/styles.css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207240" y="3662172"/>
            <a:ext cx="4937760" cy="1207008"/>
            <a:chOff x="0" y="0"/>
            <a:chExt cx="6583680" cy="160934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583680" cy="1609344"/>
            </a:xfrm>
            <a:custGeom>
              <a:avLst/>
              <a:gdLst/>
              <a:ahLst/>
              <a:cxnLst/>
              <a:rect r="r" b="b" t="t" l="l"/>
              <a:pathLst>
                <a:path h="1609344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711" r="0" b="-29711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6583680" cy="16569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A3A4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Todos los estilos, sin estilos en línea.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182576" y="5054060"/>
            <a:ext cx="8175307" cy="1221296"/>
            <a:chOff x="0" y="0"/>
            <a:chExt cx="10900410" cy="162839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900410" cy="1628394"/>
            </a:xfrm>
            <a:custGeom>
              <a:avLst/>
              <a:gdLst/>
              <a:ahLst/>
              <a:cxnLst/>
              <a:rect r="r" b="b" t="t" l="l"/>
              <a:pathLst>
                <a:path h="1628394" w="10900410">
                  <a:moveTo>
                    <a:pt x="0" y="370078"/>
                  </a:moveTo>
                  <a:cubicBezTo>
                    <a:pt x="0" y="165735"/>
                    <a:pt x="165735" y="0"/>
                    <a:pt x="370078" y="0"/>
                  </a:cubicBezTo>
                  <a:lnTo>
                    <a:pt x="10530332" y="0"/>
                  </a:lnTo>
                  <a:cubicBezTo>
                    <a:pt x="10734675" y="0"/>
                    <a:pt x="10900410" y="165735"/>
                    <a:pt x="10900410" y="370078"/>
                  </a:cubicBezTo>
                  <a:lnTo>
                    <a:pt x="10900410" y="1258316"/>
                  </a:lnTo>
                  <a:cubicBezTo>
                    <a:pt x="10900410" y="1462659"/>
                    <a:pt x="10734675" y="1628394"/>
                    <a:pt x="10530332" y="1628394"/>
                  </a:cubicBezTo>
                  <a:lnTo>
                    <a:pt x="370078" y="1628394"/>
                  </a:lnTo>
                  <a:cubicBezTo>
                    <a:pt x="165735" y="1628394"/>
                    <a:pt x="0" y="1462659"/>
                    <a:pt x="0" y="1258316"/>
                  </a:cubicBezTo>
                  <a:close/>
                </a:path>
              </a:pathLst>
            </a:custGeom>
            <a:solidFill>
              <a:srgbClr val="F9EBD3"/>
            </a:solidFill>
            <a:ln w="14288" cap="sq">
              <a:solidFill>
                <a:srgbClr val="F9EBD3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9532620" y="5061204"/>
            <a:ext cx="2606040" cy="1207008"/>
            <a:chOff x="0" y="0"/>
            <a:chExt cx="3474720" cy="160934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474720" cy="1609344"/>
            </a:xfrm>
            <a:custGeom>
              <a:avLst/>
              <a:gdLst/>
              <a:ahLst/>
              <a:cxnLst/>
              <a:rect r="r" b="b" t="t" l="l"/>
              <a:pathLst>
                <a:path h="1609344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424" t="0" r="-9424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3474720" cy="16474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2F6B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img/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207240" y="5061204"/>
            <a:ext cx="4937760" cy="1207008"/>
            <a:chOff x="0" y="0"/>
            <a:chExt cx="6583680" cy="160934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583680" cy="1609344"/>
            </a:xfrm>
            <a:custGeom>
              <a:avLst/>
              <a:gdLst/>
              <a:ahLst/>
              <a:cxnLst/>
              <a:rect r="r" b="b" t="t" l="l"/>
              <a:pathLst>
                <a:path h="1609344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711" r="0" b="-2971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6583680" cy="16569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A3A4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Foto de perfil e íconos de redes.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182576" y="6453092"/>
            <a:ext cx="8175307" cy="1221296"/>
            <a:chOff x="0" y="0"/>
            <a:chExt cx="10900410" cy="162839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900410" cy="1628394"/>
            </a:xfrm>
            <a:custGeom>
              <a:avLst/>
              <a:gdLst/>
              <a:ahLst/>
              <a:cxnLst/>
              <a:rect r="r" b="b" t="t" l="l"/>
              <a:pathLst>
                <a:path h="1628394" w="10900410">
                  <a:moveTo>
                    <a:pt x="0" y="370078"/>
                  </a:moveTo>
                  <a:cubicBezTo>
                    <a:pt x="0" y="165735"/>
                    <a:pt x="165735" y="0"/>
                    <a:pt x="370078" y="0"/>
                  </a:cubicBezTo>
                  <a:lnTo>
                    <a:pt x="10530332" y="0"/>
                  </a:lnTo>
                  <a:cubicBezTo>
                    <a:pt x="10734675" y="0"/>
                    <a:pt x="10900410" y="165735"/>
                    <a:pt x="10900410" y="370078"/>
                  </a:cubicBezTo>
                  <a:lnTo>
                    <a:pt x="10900410" y="1258316"/>
                  </a:lnTo>
                  <a:cubicBezTo>
                    <a:pt x="10900410" y="1462659"/>
                    <a:pt x="10734675" y="1628394"/>
                    <a:pt x="10530332" y="1628394"/>
                  </a:cubicBezTo>
                  <a:lnTo>
                    <a:pt x="370078" y="1628394"/>
                  </a:lnTo>
                  <a:cubicBezTo>
                    <a:pt x="165735" y="1628394"/>
                    <a:pt x="0" y="1462659"/>
                    <a:pt x="0" y="1258316"/>
                  </a:cubicBezTo>
                  <a:close/>
                </a:path>
              </a:pathLst>
            </a:custGeom>
            <a:solidFill>
              <a:srgbClr val="F7E3E4"/>
            </a:solidFill>
            <a:ln w="14288" cap="sq">
              <a:solidFill>
                <a:srgbClr val="F7E3E4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9532620" y="6460236"/>
            <a:ext cx="2606040" cy="1207008"/>
            <a:chOff x="0" y="0"/>
            <a:chExt cx="3474720" cy="160934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474720" cy="1609344"/>
            </a:xfrm>
            <a:custGeom>
              <a:avLst/>
              <a:gdLst/>
              <a:ahLst/>
              <a:cxnLst/>
              <a:rect r="r" b="b" t="t" l="l"/>
              <a:pathLst>
                <a:path h="1609344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424" t="0" r="-9424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3474720" cy="16474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2F6B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docs/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2207240" y="6460236"/>
            <a:ext cx="4937760" cy="1207008"/>
            <a:chOff x="0" y="0"/>
            <a:chExt cx="6583680" cy="160934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583680" cy="1609344"/>
            </a:xfrm>
            <a:custGeom>
              <a:avLst/>
              <a:gdLst/>
              <a:ahLst/>
              <a:cxnLst/>
              <a:rect r="r" b="b" t="t" l="l"/>
              <a:pathLst>
                <a:path h="1609344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711" r="0" b="-29711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6583680" cy="16569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A3A4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Mockup en PNG y PDF.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182576" y="7852124"/>
            <a:ext cx="8175307" cy="1221296"/>
            <a:chOff x="0" y="0"/>
            <a:chExt cx="10900410" cy="162839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900410" cy="1628394"/>
            </a:xfrm>
            <a:custGeom>
              <a:avLst/>
              <a:gdLst/>
              <a:ahLst/>
              <a:cxnLst/>
              <a:rect r="r" b="b" t="t" l="l"/>
              <a:pathLst>
                <a:path h="1628394" w="10900410">
                  <a:moveTo>
                    <a:pt x="0" y="370078"/>
                  </a:moveTo>
                  <a:cubicBezTo>
                    <a:pt x="0" y="165735"/>
                    <a:pt x="165735" y="0"/>
                    <a:pt x="370078" y="0"/>
                  </a:cubicBezTo>
                  <a:lnTo>
                    <a:pt x="10530332" y="0"/>
                  </a:lnTo>
                  <a:cubicBezTo>
                    <a:pt x="10734675" y="0"/>
                    <a:pt x="10900410" y="165735"/>
                    <a:pt x="10900410" y="370078"/>
                  </a:cubicBezTo>
                  <a:lnTo>
                    <a:pt x="10900410" y="1258316"/>
                  </a:lnTo>
                  <a:cubicBezTo>
                    <a:pt x="10900410" y="1462659"/>
                    <a:pt x="10734675" y="1628394"/>
                    <a:pt x="10530332" y="1628394"/>
                  </a:cubicBezTo>
                  <a:lnTo>
                    <a:pt x="370078" y="1628394"/>
                  </a:lnTo>
                  <a:cubicBezTo>
                    <a:pt x="165735" y="1628394"/>
                    <a:pt x="0" y="1462659"/>
                    <a:pt x="0" y="1258316"/>
                  </a:cubicBezTo>
                  <a:close/>
                </a:path>
              </a:pathLst>
            </a:custGeom>
            <a:solidFill>
              <a:srgbClr val="DFF0EE"/>
            </a:solidFill>
            <a:ln w="14288" cap="sq">
              <a:solidFill>
                <a:srgbClr val="DFF0EE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9532620" y="7859268"/>
            <a:ext cx="2606040" cy="1207008"/>
            <a:chOff x="0" y="0"/>
            <a:chExt cx="3474720" cy="160934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474720" cy="1609344"/>
            </a:xfrm>
            <a:custGeom>
              <a:avLst/>
              <a:gdLst/>
              <a:ahLst/>
              <a:cxnLst/>
              <a:rect r="r" b="b" t="t" l="l"/>
              <a:pathLst>
                <a:path h="1609344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424" t="0" r="-9424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3474720" cy="16474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2F6B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Dockerfile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2207240" y="7859268"/>
            <a:ext cx="4937760" cy="1207008"/>
            <a:chOff x="0" y="0"/>
            <a:chExt cx="6583680" cy="160934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583680" cy="1609344"/>
            </a:xfrm>
            <a:custGeom>
              <a:avLst/>
              <a:gdLst/>
              <a:ahLst/>
              <a:cxnLst/>
              <a:rect r="r" b="b" t="t" l="l"/>
              <a:pathLst>
                <a:path h="1609344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711" r="0" b="-2971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6583680" cy="16569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A3A4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Receta para construir la imagen con Nginx.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16962120" y="9618345"/>
            <a:ext cx="640080" cy="348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B0848A"/>
                </a:solidFill>
                <a:latin typeface="Calibri (MS)"/>
                <a:ea typeface="Calibri (MS)"/>
                <a:cs typeface="Calibri (MS)"/>
                <a:sym typeface="Calibri (MS)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548640"/>
            <a:ext cx="16322040" cy="1234440"/>
            <a:chOff x="0" y="0"/>
            <a:chExt cx="2176272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627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7635" r="0" b="-20763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21762720" cy="1760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2F6B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 aprendido aplicado al sitio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52976" y="2255996"/>
            <a:ext cx="8038147" cy="3306128"/>
            <a:chOff x="0" y="0"/>
            <a:chExt cx="10717530" cy="440817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717530" cy="4408170"/>
            </a:xfrm>
            <a:custGeom>
              <a:avLst/>
              <a:gdLst/>
              <a:ahLst/>
              <a:cxnLst/>
              <a:rect r="r" b="b" t="t" l="l"/>
              <a:pathLst>
                <a:path h="4408170" w="10717530">
                  <a:moveTo>
                    <a:pt x="0" y="367284"/>
                  </a:moveTo>
                  <a:cubicBezTo>
                    <a:pt x="0" y="164465"/>
                    <a:pt x="164465" y="0"/>
                    <a:pt x="367284" y="0"/>
                  </a:cubicBezTo>
                  <a:lnTo>
                    <a:pt x="10350246" y="0"/>
                  </a:lnTo>
                  <a:cubicBezTo>
                    <a:pt x="10553064" y="0"/>
                    <a:pt x="10717530" y="164465"/>
                    <a:pt x="10717530" y="367284"/>
                  </a:cubicBezTo>
                  <a:lnTo>
                    <a:pt x="10717530" y="4040886"/>
                  </a:lnTo>
                  <a:cubicBezTo>
                    <a:pt x="10717530" y="4243705"/>
                    <a:pt x="10553064" y="4408170"/>
                    <a:pt x="10350246" y="4408170"/>
                  </a:cubicBezTo>
                  <a:lnTo>
                    <a:pt x="367284" y="4408170"/>
                  </a:lnTo>
                  <a:cubicBezTo>
                    <a:pt x="164465" y="4408170"/>
                    <a:pt x="0" y="4243705"/>
                    <a:pt x="0" y="4040886"/>
                  </a:cubicBezTo>
                  <a:close/>
                </a:path>
              </a:pathLst>
            </a:custGeom>
            <a:solidFill>
              <a:srgbClr val="DFF0EE"/>
            </a:solidFill>
            <a:ln w="14288" cap="sq">
              <a:solidFill>
                <a:srgbClr val="DFF0EE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440180" y="2607945"/>
            <a:ext cx="713232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true">
                <a:solidFill>
                  <a:srgbClr val="2F6B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HTML semántico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40180" y="3596640"/>
            <a:ext cx="7132320" cy="1684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3A3A42"/>
                </a:solidFill>
                <a:latin typeface="Calibri (MS)"/>
                <a:ea typeface="Calibri (MS)"/>
                <a:cs typeface="Calibri (MS)"/>
                <a:sym typeface="Calibri (MS)"/>
              </a:rPr>
              <a:t>Cada bloque usa la etiqueta que le corresponde. Mejora accesibilidad, SEO y mantenimiento.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319736" y="2255996"/>
            <a:ext cx="8038147" cy="3306128"/>
            <a:chOff x="0" y="0"/>
            <a:chExt cx="10717530" cy="440817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717530" cy="4408170"/>
            </a:xfrm>
            <a:custGeom>
              <a:avLst/>
              <a:gdLst/>
              <a:ahLst/>
              <a:cxnLst/>
              <a:rect r="r" b="b" t="t" l="l"/>
              <a:pathLst>
                <a:path h="4408170" w="10717530">
                  <a:moveTo>
                    <a:pt x="0" y="367284"/>
                  </a:moveTo>
                  <a:cubicBezTo>
                    <a:pt x="0" y="164465"/>
                    <a:pt x="164465" y="0"/>
                    <a:pt x="367284" y="0"/>
                  </a:cubicBezTo>
                  <a:lnTo>
                    <a:pt x="10350246" y="0"/>
                  </a:lnTo>
                  <a:cubicBezTo>
                    <a:pt x="10553064" y="0"/>
                    <a:pt x="10717530" y="164465"/>
                    <a:pt x="10717530" y="367284"/>
                  </a:cubicBezTo>
                  <a:lnTo>
                    <a:pt x="10717530" y="4040886"/>
                  </a:lnTo>
                  <a:cubicBezTo>
                    <a:pt x="10717530" y="4243705"/>
                    <a:pt x="10553064" y="4408170"/>
                    <a:pt x="10350246" y="4408170"/>
                  </a:cubicBezTo>
                  <a:lnTo>
                    <a:pt x="367284" y="4408170"/>
                  </a:lnTo>
                  <a:cubicBezTo>
                    <a:pt x="164465" y="4408170"/>
                    <a:pt x="0" y="4243705"/>
                    <a:pt x="0" y="4040886"/>
                  </a:cubicBezTo>
                  <a:close/>
                </a:path>
              </a:pathLst>
            </a:custGeom>
            <a:solidFill>
              <a:srgbClr val="EBE8F7"/>
            </a:solidFill>
            <a:ln w="14288" cap="sq">
              <a:solidFill>
                <a:srgbClr val="EBE8F7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9806940" y="2607945"/>
            <a:ext cx="713232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true">
                <a:solidFill>
                  <a:srgbClr val="2F6B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Formularios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806940" y="3596640"/>
            <a:ext cx="7132320" cy="1684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3A3A42"/>
                </a:solidFill>
                <a:latin typeface="Calibri (MS)"/>
                <a:ea typeface="Calibri (MS)"/>
                <a:cs typeface="Calibri (MS)"/>
                <a:sym typeface="Calibri (MS)"/>
              </a:rPr>
              <a:t>label con for e id, radio, checkbox, textarea, required y envío por GET.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52976" y="5890736"/>
            <a:ext cx="8038147" cy="3306128"/>
            <a:chOff x="0" y="0"/>
            <a:chExt cx="10717530" cy="440817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717530" cy="4408170"/>
            </a:xfrm>
            <a:custGeom>
              <a:avLst/>
              <a:gdLst/>
              <a:ahLst/>
              <a:cxnLst/>
              <a:rect r="r" b="b" t="t" l="l"/>
              <a:pathLst>
                <a:path h="4408170" w="10717530">
                  <a:moveTo>
                    <a:pt x="0" y="367284"/>
                  </a:moveTo>
                  <a:cubicBezTo>
                    <a:pt x="0" y="164465"/>
                    <a:pt x="164465" y="0"/>
                    <a:pt x="367284" y="0"/>
                  </a:cubicBezTo>
                  <a:lnTo>
                    <a:pt x="10350246" y="0"/>
                  </a:lnTo>
                  <a:cubicBezTo>
                    <a:pt x="10553064" y="0"/>
                    <a:pt x="10717530" y="164465"/>
                    <a:pt x="10717530" y="367284"/>
                  </a:cubicBezTo>
                  <a:lnTo>
                    <a:pt x="10717530" y="4040886"/>
                  </a:lnTo>
                  <a:cubicBezTo>
                    <a:pt x="10717530" y="4243705"/>
                    <a:pt x="10553064" y="4408170"/>
                    <a:pt x="10350246" y="4408170"/>
                  </a:cubicBezTo>
                  <a:lnTo>
                    <a:pt x="367284" y="4408170"/>
                  </a:lnTo>
                  <a:cubicBezTo>
                    <a:pt x="164465" y="4408170"/>
                    <a:pt x="0" y="4243705"/>
                    <a:pt x="0" y="4040886"/>
                  </a:cubicBezTo>
                  <a:close/>
                </a:path>
              </a:pathLst>
            </a:custGeom>
            <a:solidFill>
              <a:srgbClr val="F9EBD3"/>
            </a:solidFill>
            <a:ln w="14288" cap="sq">
              <a:solidFill>
                <a:srgbClr val="F9EBD3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440180" y="6242685"/>
            <a:ext cx="713232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true">
                <a:solidFill>
                  <a:srgbClr val="2F6B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CSS: cascada y especificidad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40180" y="7231380"/>
            <a:ext cx="7132320" cy="1684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3A3A42"/>
                </a:solidFill>
                <a:latin typeface="Calibri (MS)"/>
                <a:ea typeface="Calibri (MS)"/>
                <a:cs typeface="Calibri (MS)"/>
                <a:sym typeface="Calibri (MS)"/>
              </a:rPr>
              <a:t>Conflicto a propósito: elemento, clase e ID sobre el mismo párrafo. Gana el ID, comprobado en DevTools.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319736" y="5890736"/>
            <a:ext cx="8038147" cy="3306128"/>
            <a:chOff x="0" y="0"/>
            <a:chExt cx="10717530" cy="44081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717530" cy="4408170"/>
            </a:xfrm>
            <a:custGeom>
              <a:avLst/>
              <a:gdLst/>
              <a:ahLst/>
              <a:cxnLst/>
              <a:rect r="r" b="b" t="t" l="l"/>
              <a:pathLst>
                <a:path h="4408170" w="10717530">
                  <a:moveTo>
                    <a:pt x="0" y="367284"/>
                  </a:moveTo>
                  <a:cubicBezTo>
                    <a:pt x="0" y="164465"/>
                    <a:pt x="164465" y="0"/>
                    <a:pt x="367284" y="0"/>
                  </a:cubicBezTo>
                  <a:lnTo>
                    <a:pt x="10350246" y="0"/>
                  </a:lnTo>
                  <a:cubicBezTo>
                    <a:pt x="10553064" y="0"/>
                    <a:pt x="10717530" y="164465"/>
                    <a:pt x="10717530" y="367284"/>
                  </a:cubicBezTo>
                  <a:lnTo>
                    <a:pt x="10717530" y="4040886"/>
                  </a:lnTo>
                  <a:cubicBezTo>
                    <a:pt x="10717530" y="4243705"/>
                    <a:pt x="10553064" y="4408170"/>
                    <a:pt x="10350246" y="4408170"/>
                  </a:cubicBezTo>
                  <a:lnTo>
                    <a:pt x="367284" y="4408170"/>
                  </a:lnTo>
                  <a:cubicBezTo>
                    <a:pt x="164465" y="4408170"/>
                    <a:pt x="0" y="4243705"/>
                    <a:pt x="0" y="4040886"/>
                  </a:cubicBezTo>
                  <a:close/>
                </a:path>
              </a:pathLst>
            </a:custGeom>
            <a:solidFill>
              <a:srgbClr val="F7E3E4"/>
            </a:solidFill>
            <a:ln w="14288" cap="sq">
              <a:solidFill>
                <a:srgbClr val="F7E3E4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9806940" y="6242685"/>
            <a:ext cx="713232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true">
                <a:solidFill>
                  <a:srgbClr val="2F6B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Mejora investigada: diseño responsivo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806940" y="7231380"/>
            <a:ext cx="7132320" cy="1684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3A3A42"/>
                </a:solidFill>
                <a:latin typeface="Calibri (MS)"/>
                <a:ea typeface="Calibri (MS)"/>
                <a:cs typeface="Calibri (MS)"/>
                <a:sym typeface="Calibri (MS)"/>
              </a:rPr>
              <a:t>Media queries, flexbox y grid: el sitio se adapta de escritorio a móvil.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962120" y="9618345"/>
            <a:ext cx="640080" cy="348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B0848A"/>
                </a:solidFill>
                <a:latin typeface="Calibri (MS)"/>
                <a:ea typeface="Calibri (MS)"/>
                <a:cs typeface="Calibri (MS)"/>
                <a:sym typeface="Calibri (MS)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548640"/>
            <a:ext cx="16322040" cy="1234440"/>
            <a:chOff x="0" y="0"/>
            <a:chExt cx="2176272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627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7635" r="0" b="-20763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21762720" cy="1760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2F6B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Dockerización con Nginx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52976" y="2393156"/>
            <a:ext cx="3923347" cy="5089208"/>
            <a:chOff x="0" y="0"/>
            <a:chExt cx="5231130" cy="678561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231130" cy="6785610"/>
            </a:xfrm>
            <a:custGeom>
              <a:avLst/>
              <a:gdLst/>
              <a:ahLst/>
              <a:cxnLst/>
              <a:rect r="r" b="b" t="t" l="l"/>
              <a:pathLst>
                <a:path h="6785610" w="5231130">
                  <a:moveTo>
                    <a:pt x="0" y="367157"/>
                  </a:moveTo>
                  <a:cubicBezTo>
                    <a:pt x="0" y="164338"/>
                    <a:pt x="164338" y="0"/>
                    <a:pt x="367157" y="0"/>
                  </a:cubicBezTo>
                  <a:lnTo>
                    <a:pt x="4863973" y="0"/>
                  </a:lnTo>
                  <a:cubicBezTo>
                    <a:pt x="5066665" y="0"/>
                    <a:pt x="5231130" y="164338"/>
                    <a:pt x="5231130" y="367157"/>
                  </a:cubicBezTo>
                  <a:lnTo>
                    <a:pt x="5231130" y="6418453"/>
                  </a:lnTo>
                  <a:cubicBezTo>
                    <a:pt x="5231130" y="6621145"/>
                    <a:pt x="5066792" y="6785610"/>
                    <a:pt x="4863973" y="6785610"/>
                  </a:cubicBezTo>
                  <a:lnTo>
                    <a:pt x="367157" y="6785610"/>
                  </a:lnTo>
                  <a:cubicBezTo>
                    <a:pt x="164338" y="6785610"/>
                    <a:pt x="0" y="6621272"/>
                    <a:pt x="0" y="6418453"/>
                  </a:cubicBezTo>
                  <a:close/>
                </a:path>
              </a:pathLst>
            </a:custGeom>
            <a:solidFill>
              <a:srgbClr val="DFF0EE"/>
            </a:solidFill>
            <a:ln w="14288" cap="sq">
              <a:solidFill>
                <a:srgbClr val="DFF0EE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371600" y="2628900"/>
            <a:ext cx="1371600" cy="1074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2F6B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71600" y="3773805"/>
            <a:ext cx="315468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true">
                <a:solidFill>
                  <a:srgbClr val="3A3A4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Dockerfile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71600" y="4674870"/>
            <a:ext cx="3154680" cy="2526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3A3A42"/>
                </a:solidFill>
                <a:latin typeface="Calibri (MS)"/>
                <a:ea typeface="Calibri (MS)"/>
                <a:cs typeface="Calibri (MS)"/>
                <a:sym typeface="Calibri (MS)"/>
              </a:rPr>
              <a:t>FROM nginx y COPY de los archivos del sitio a la carpeta de Nginx.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5136356" y="2393156"/>
            <a:ext cx="3923347" cy="5089208"/>
            <a:chOff x="0" y="0"/>
            <a:chExt cx="5231130" cy="678561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231130" cy="6785610"/>
            </a:xfrm>
            <a:custGeom>
              <a:avLst/>
              <a:gdLst/>
              <a:ahLst/>
              <a:cxnLst/>
              <a:rect r="r" b="b" t="t" l="l"/>
              <a:pathLst>
                <a:path h="6785610" w="5231130">
                  <a:moveTo>
                    <a:pt x="0" y="367157"/>
                  </a:moveTo>
                  <a:cubicBezTo>
                    <a:pt x="0" y="164338"/>
                    <a:pt x="164338" y="0"/>
                    <a:pt x="367157" y="0"/>
                  </a:cubicBezTo>
                  <a:lnTo>
                    <a:pt x="4863973" y="0"/>
                  </a:lnTo>
                  <a:cubicBezTo>
                    <a:pt x="5066665" y="0"/>
                    <a:pt x="5231130" y="164338"/>
                    <a:pt x="5231130" y="367157"/>
                  </a:cubicBezTo>
                  <a:lnTo>
                    <a:pt x="5231130" y="6418453"/>
                  </a:lnTo>
                  <a:cubicBezTo>
                    <a:pt x="5231130" y="6621145"/>
                    <a:pt x="5066792" y="6785610"/>
                    <a:pt x="4863973" y="6785610"/>
                  </a:cubicBezTo>
                  <a:lnTo>
                    <a:pt x="367157" y="6785610"/>
                  </a:lnTo>
                  <a:cubicBezTo>
                    <a:pt x="164338" y="6785610"/>
                    <a:pt x="0" y="6621272"/>
                    <a:pt x="0" y="6418453"/>
                  </a:cubicBezTo>
                  <a:close/>
                </a:path>
              </a:pathLst>
            </a:custGeom>
            <a:solidFill>
              <a:srgbClr val="EBE8F7"/>
            </a:solidFill>
            <a:ln w="14288" cap="sq">
              <a:solidFill>
                <a:srgbClr val="EBE8F7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5554980" y="2628900"/>
            <a:ext cx="1371600" cy="1074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2F6B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554980" y="3773805"/>
            <a:ext cx="315468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true">
                <a:solidFill>
                  <a:srgbClr val="3A3A4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Construir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554980" y="4712970"/>
            <a:ext cx="3154680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3A3A42"/>
                </a:solidFill>
                <a:latin typeface="Courier New"/>
                <a:ea typeface="Courier New"/>
                <a:cs typeface="Courier New"/>
                <a:sym typeface="Courier New"/>
              </a:rPr>
              <a:t>docker build -t tammycaizapanta/imagen 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319736" y="2393156"/>
            <a:ext cx="3923347" cy="5089208"/>
            <a:chOff x="0" y="0"/>
            <a:chExt cx="5231130" cy="678561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231130" cy="6785610"/>
            </a:xfrm>
            <a:custGeom>
              <a:avLst/>
              <a:gdLst/>
              <a:ahLst/>
              <a:cxnLst/>
              <a:rect r="r" b="b" t="t" l="l"/>
              <a:pathLst>
                <a:path h="6785610" w="5231130">
                  <a:moveTo>
                    <a:pt x="0" y="367157"/>
                  </a:moveTo>
                  <a:cubicBezTo>
                    <a:pt x="0" y="164338"/>
                    <a:pt x="164338" y="0"/>
                    <a:pt x="367157" y="0"/>
                  </a:cubicBezTo>
                  <a:lnTo>
                    <a:pt x="4863973" y="0"/>
                  </a:lnTo>
                  <a:cubicBezTo>
                    <a:pt x="5066665" y="0"/>
                    <a:pt x="5231130" y="164338"/>
                    <a:pt x="5231130" y="367157"/>
                  </a:cubicBezTo>
                  <a:lnTo>
                    <a:pt x="5231130" y="6418453"/>
                  </a:lnTo>
                  <a:cubicBezTo>
                    <a:pt x="5231130" y="6621145"/>
                    <a:pt x="5066792" y="6785610"/>
                    <a:pt x="4863973" y="6785610"/>
                  </a:cubicBezTo>
                  <a:lnTo>
                    <a:pt x="367157" y="6785610"/>
                  </a:lnTo>
                  <a:cubicBezTo>
                    <a:pt x="164338" y="6785610"/>
                    <a:pt x="0" y="6621272"/>
                    <a:pt x="0" y="6418453"/>
                  </a:cubicBezTo>
                  <a:close/>
                </a:path>
              </a:pathLst>
            </a:custGeom>
            <a:solidFill>
              <a:srgbClr val="F9EBD3"/>
            </a:solidFill>
            <a:ln w="14288" cap="sq">
              <a:solidFill>
                <a:srgbClr val="F9EBD3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9738360" y="2628900"/>
            <a:ext cx="1371600" cy="1074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2F6B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738360" y="3773805"/>
            <a:ext cx="315468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true">
                <a:solidFill>
                  <a:srgbClr val="3A3A4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Ejecutar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738360" y="4712970"/>
            <a:ext cx="3154680" cy="139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3A3A42"/>
                </a:solidFill>
                <a:latin typeface="Courier New"/>
                <a:ea typeface="Courier New"/>
                <a:cs typeface="Courier New"/>
                <a:sym typeface="Courier New"/>
              </a:rPr>
              <a:t>docker run -d -p 8083:80 tammycaizapanta/imagen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3503116" y="2393156"/>
            <a:ext cx="3923347" cy="5089208"/>
            <a:chOff x="0" y="0"/>
            <a:chExt cx="5231130" cy="67856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31130" cy="6785610"/>
            </a:xfrm>
            <a:custGeom>
              <a:avLst/>
              <a:gdLst/>
              <a:ahLst/>
              <a:cxnLst/>
              <a:rect r="r" b="b" t="t" l="l"/>
              <a:pathLst>
                <a:path h="6785610" w="5231130">
                  <a:moveTo>
                    <a:pt x="0" y="367157"/>
                  </a:moveTo>
                  <a:cubicBezTo>
                    <a:pt x="0" y="164338"/>
                    <a:pt x="164338" y="0"/>
                    <a:pt x="367157" y="0"/>
                  </a:cubicBezTo>
                  <a:lnTo>
                    <a:pt x="4863973" y="0"/>
                  </a:lnTo>
                  <a:cubicBezTo>
                    <a:pt x="5066665" y="0"/>
                    <a:pt x="5231130" y="164338"/>
                    <a:pt x="5231130" y="367157"/>
                  </a:cubicBezTo>
                  <a:lnTo>
                    <a:pt x="5231130" y="6418453"/>
                  </a:lnTo>
                  <a:cubicBezTo>
                    <a:pt x="5231130" y="6621145"/>
                    <a:pt x="5066792" y="6785610"/>
                    <a:pt x="4863973" y="6785610"/>
                  </a:cubicBezTo>
                  <a:lnTo>
                    <a:pt x="367157" y="6785610"/>
                  </a:lnTo>
                  <a:cubicBezTo>
                    <a:pt x="164338" y="6785610"/>
                    <a:pt x="0" y="6621272"/>
                    <a:pt x="0" y="6418453"/>
                  </a:cubicBezTo>
                  <a:close/>
                </a:path>
              </a:pathLst>
            </a:custGeom>
            <a:solidFill>
              <a:srgbClr val="F7E3E4"/>
            </a:solidFill>
            <a:ln w="14288" cap="sq">
              <a:solidFill>
                <a:srgbClr val="F7E3E4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13921740" y="2628900"/>
            <a:ext cx="1371600" cy="1074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2F6B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921740" y="3773805"/>
            <a:ext cx="315468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true">
                <a:solidFill>
                  <a:srgbClr val="3A3A4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Publicar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921740" y="4712970"/>
            <a:ext cx="3154680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3A3A42"/>
                </a:solidFill>
                <a:latin typeface="Courier New"/>
                <a:ea typeface="Courier New"/>
                <a:cs typeface="Courier New"/>
                <a:sym typeface="Courier New"/>
              </a:rPr>
              <a:t>docker push tammycaizapanta/imagen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52976" y="7948136"/>
            <a:ext cx="16404907" cy="1317308"/>
            <a:chOff x="0" y="0"/>
            <a:chExt cx="21873210" cy="175641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873211" cy="1756537"/>
            </a:xfrm>
            <a:custGeom>
              <a:avLst/>
              <a:gdLst/>
              <a:ahLst/>
              <a:cxnLst/>
              <a:rect r="r" b="b" t="t" l="l"/>
              <a:pathLst>
                <a:path h="1756537" w="21873211">
                  <a:moveTo>
                    <a:pt x="0" y="369824"/>
                  </a:moveTo>
                  <a:cubicBezTo>
                    <a:pt x="0" y="165608"/>
                    <a:pt x="165608" y="0"/>
                    <a:pt x="369824" y="0"/>
                  </a:cubicBezTo>
                  <a:lnTo>
                    <a:pt x="21503387" y="0"/>
                  </a:lnTo>
                  <a:cubicBezTo>
                    <a:pt x="21707602" y="0"/>
                    <a:pt x="21873211" y="165608"/>
                    <a:pt x="21873211" y="369824"/>
                  </a:cubicBezTo>
                  <a:lnTo>
                    <a:pt x="21873211" y="1386713"/>
                  </a:lnTo>
                  <a:cubicBezTo>
                    <a:pt x="21873211" y="1590929"/>
                    <a:pt x="21707602" y="1756537"/>
                    <a:pt x="21503387" y="1756537"/>
                  </a:cubicBezTo>
                  <a:lnTo>
                    <a:pt x="369824" y="1756537"/>
                  </a:lnTo>
                  <a:cubicBezTo>
                    <a:pt x="165608" y="1756410"/>
                    <a:pt x="0" y="1590802"/>
                    <a:pt x="0" y="1386586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FF0EE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371600" y="7955280"/>
            <a:ext cx="15636240" cy="1303020"/>
            <a:chOff x="0" y="0"/>
            <a:chExt cx="20848320" cy="17373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0848320" cy="1737360"/>
            </a:xfrm>
            <a:custGeom>
              <a:avLst/>
              <a:gdLst/>
              <a:ahLst/>
              <a:cxnLst/>
              <a:rect r="r" b="b" t="t" l="l"/>
              <a:pathLst>
                <a:path h="1737360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20848320" cy="1775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3A3A4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 usa la imagen oficial y verificada de Nginx. El puerto externo 8083 se enlaza al puerto 80 interno del contenedor.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6962120" y="9618345"/>
            <a:ext cx="640080" cy="348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B0848A"/>
                </a:solidFill>
                <a:latin typeface="Calibri (MS)"/>
                <a:ea typeface="Calibri (MS)"/>
                <a:cs typeface="Calibri (MS)"/>
                <a:sym typeface="Calibri (MS)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548640"/>
            <a:ext cx="16322040" cy="1234440"/>
            <a:chOff x="0" y="0"/>
            <a:chExt cx="2176272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627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7635" r="0" b="-20763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21762720" cy="1760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2F6B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Resultado: sitio funcionando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2125980"/>
            <a:ext cx="10287000" cy="6429375"/>
            <a:chOff x="0" y="0"/>
            <a:chExt cx="13716000" cy="85725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716000" cy="8572500"/>
            </a:xfrm>
            <a:custGeom>
              <a:avLst/>
              <a:gdLst/>
              <a:ahLst/>
              <a:cxnLst/>
              <a:rect r="r" b="b" t="t" l="l"/>
              <a:pathLst>
                <a:path h="85725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8572500"/>
                  </a:lnTo>
                  <a:lnTo>
                    <a:pt x="0" y="8572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191" t="0" r="-3191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2618720" y="1988820"/>
            <a:ext cx="3291840" cy="7118604"/>
            <a:chOff x="0" y="0"/>
            <a:chExt cx="4389120" cy="94914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389120" cy="9491472"/>
            </a:xfrm>
            <a:custGeom>
              <a:avLst/>
              <a:gdLst/>
              <a:ahLst/>
              <a:cxnLst/>
              <a:rect r="r" b="b" t="t" l="l"/>
              <a:pathLst>
                <a:path h="949147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9491472"/>
                  </a:lnTo>
                  <a:lnTo>
                    <a:pt x="0" y="94914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259" t="0" r="-2259" b="0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960120" y="8593455"/>
            <a:ext cx="1028700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Escritorio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618720" y="9142095"/>
            <a:ext cx="329184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Móvil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962120" y="9618345"/>
            <a:ext cx="640080" cy="348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B0848A"/>
                </a:solidFill>
                <a:latin typeface="Calibri (MS)"/>
                <a:ea typeface="Calibri (MS)"/>
                <a:cs typeface="Calibri (MS)"/>
                <a:sym typeface="Calibri (MS)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DAHYy8qsQPQ</dc:identifier>
  <dcterms:modified xsi:type="dcterms:W3CDTF">2011-08-01T06:04:30Z</dcterms:modified>
  <cp:revision>1</cp:revision>
  <dc:title>Presentacion_perfil-profesional.pptx</dc:title>
</cp:coreProperties>
</file>